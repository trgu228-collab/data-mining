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684" r:id="rId2"/>
    <p:sldId id="685" r:id="rId3"/>
    <p:sldId id="68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32" autoAdjust="0"/>
    <p:restoredTop sz="94660"/>
  </p:normalViewPr>
  <p:slideViewPr>
    <p:cSldViewPr snapToGrid="0">
      <p:cViewPr varScale="1">
        <p:scale>
          <a:sx n="96" d="100"/>
          <a:sy n="96" d="100"/>
        </p:scale>
        <p:origin x="3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38E04-E1DC-47F9-A5E9-6731BD3062E5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C6A56-934D-4855-8C5A-11D7B34C18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06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05E9-7D15-D06C-66CA-4E4CF11D8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D1AF16-7799-370A-BCF0-D753052E8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089358-983D-B6A7-AFDE-B768A415C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74BA83-8D16-4C20-1CA4-6D2526EDEA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CB7435-BF1A-4315-8545-5359AA5D568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455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62C15-D43E-DACF-F683-08A8141B6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1650BB-3CBD-67D0-E2FE-7435AF237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373FC1-D344-EF37-DAA4-CE015B719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D4409A-D04B-769B-21DE-B4F892639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111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39E74-39C9-0805-00B3-5B25210E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0DB932-9F2F-4507-83D7-6ADA82C3A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8752B7-C3F9-D3C6-4DAE-BD7A8DEE9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A9A5F-06F2-7C09-E3E5-EE578F3C60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CB7435-BF1A-4315-8545-5359AA5D568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717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AE9D-D291-4F5D-9187-55AF910091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520C-C48D-4296-A14C-514CDC0DE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19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AE9D-D291-4F5D-9187-55AF910091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520C-C48D-4296-A14C-514CDC0DE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4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AE9D-D291-4F5D-9187-55AF910091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520C-C48D-4296-A14C-514CDC0DE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0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AE9D-D291-4F5D-9187-55AF910091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520C-C48D-4296-A14C-514CDC0DE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22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AE9D-D291-4F5D-9187-55AF910091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520C-C48D-4296-A14C-514CDC0DE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5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AE9D-D291-4F5D-9187-55AF910091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520C-C48D-4296-A14C-514CDC0DE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17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AE9D-D291-4F5D-9187-55AF910091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520C-C48D-4296-A14C-514CDC0DE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3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AE9D-D291-4F5D-9187-55AF910091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520C-C48D-4296-A14C-514CDC0DE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72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AE9D-D291-4F5D-9187-55AF910091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520C-C48D-4296-A14C-514CDC0DE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1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AE9D-D291-4F5D-9187-55AF910091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520C-C48D-4296-A14C-514CDC0DE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1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AE9D-D291-4F5D-9187-55AF910091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520C-C48D-4296-A14C-514CDC0DE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74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8011" y="164638"/>
            <a:ext cx="3655808" cy="369524"/>
          </a:xfrm>
        </p:spPr>
        <p:txBody>
          <a:bodyPr/>
          <a:lstStyle>
            <a:lvl1pPr algn="l">
              <a:defRPr sz="2133" b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84682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16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4AE9D-D291-4F5D-9187-55AF910091E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7520C-C48D-4296-A14C-514CDC0DE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77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048C4-59E9-FDF7-F2AF-B8626022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39">
            <a:extLst>
              <a:ext uri="{FF2B5EF4-FFF2-40B4-BE49-F238E27FC236}">
                <a16:creationId xmlns:a16="http://schemas.microsoft.com/office/drawing/2014/main" id="{D42E0B31-99F2-2260-0F59-8DE1AE89FA74}"/>
              </a:ext>
            </a:extLst>
          </p:cNvPr>
          <p:cNvSpPr/>
          <p:nvPr/>
        </p:nvSpPr>
        <p:spPr>
          <a:xfrm>
            <a:off x="1459135" y="211868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pitchFamily="34" charset="0"/>
              </a:rPr>
              <a:t>简单基线模型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" panose="020F0502020204030203" pitchFamily="34" charset="0"/>
            </a:endParaRPr>
          </a:p>
        </p:txBody>
      </p:sp>
      <p:sp>
        <p:nvSpPr>
          <p:cNvPr id="30" name="AutoShape 4">
            <a:extLst>
              <a:ext uri="{FF2B5EF4-FFF2-40B4-BE49-F238E27FC236}">
                <a16:creationId xmlns:a16="http://schemas.microsoft.com/office/drawing/2014/main" id="{2A519154-2231-2E2C-02EF-339C1D40A8C4}"/>
              </a:ext>
            </a:extLst>
          </p:cNvPr>
          <p:cNvSpPr>
            <a:spLocks/>
          </p:cNvSpPr>
          <p:nvPr/>
        </p:nvSpPr>
        <p:spPr bwMode="auto">
          <a:xfrm>
            <a:off x="7340149" y="1577327"/>
            <a:ext cx="3562535" cy="2469828"/>
          </a:xfrm>
          <a:prstGeom prst="rightArrow">
            <a:avLst>
              <a:gd name="adj1" fmla="val 100000"/>
              <a:gd name="adj2" fmla="val 27547"/>
            </a:avLst>
          </a:prstGeom>
          <a:solidFill>
            <a:srgbClr val="F8841D"/>
          </a:solidFill>
          <a:ln w="88900">
            <a:solidFill>
              <a:srgbClr val="546E7A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215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87091991-3C43-58E6-59A5-6CB80F61AE24}"/>
              </a:ext>
            </a:extLst>
          </p:cNvPr>
          <p:cNvSpPr>
            <a:spLocks/>
          </p:cNvSpPr>
          <p:nvPr/>
        </p:nvSpPr>
        <p:spPr bwMode="auto">
          <a:xfrm>
            <a:off x="4214768" y="1576137"/>
            <a:ext cx="3835695" cy="2472209"/>
          </a:xfrm>
          <a:prstGeom prst="rightArrow">
            <a:avLst>
              <a:gd name="adj1" fmla="val 100000"/>
              <a:gd name="adj2" fmla="val 27518"/>
            </a:avLst>
          </a:prstGeom>
          <a:solidFill>
            <a:srgbClr val="9BBB40"/>
          </a:solidFill>
          <a:ln w="88900">
            <a:solidFill>
              <a:srgbClr val="546E7A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2150"/>
          </a:p>
        </p:txBody>
      </p:sp>
      <p:sp>
        <p:nvSpPr>
          <p:cNvPr id="43" name="AutoShape 4">
            <a:extLst>
              <a:ext uri="{FF2B5EF4-FFF2-40B4-BE49-F238E27FC236}">
                <a16:creationId xmlns:a16="http://schemas.microsoft.com/office/drawing/2014/main" id="{C3AF042D-CD50-E71F-9DB0-789657AB27AC}"/>
              </a:ext>
            </a:extLst>
          </p:cNvPr>
          <p:cNvSpPr>
            <a:spLocks/>
          </p:cNvSpPr>
          <p:nvPr/>
        </p:nvSpPr>
        <p:spPr bwMode="auto">
          <a:xfrm>
            <a:off x="1459135" y="1577327"/>
            <a:ext cx="3460299" cy="2469828"/>
          </a:xfrm>
          <a:prstGeom prst="rightArrow">
            <a:avLst>
              <a:gd name="adj1" fmla="val 100000"/>
              <a:gd name="adj2" fmla="val 27547"/>
            </a:avLst>
          </a:prstGeom>
          <a:solidFill>
            <a:srgbClr val="5EC6D3"/>
          </a:solidFill>
          <a:ln w="88900">
            <a:solidFill>
              <a:srgbClr val="546E7A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2150"/>
          </a:p>
        </p:txBody>
      </p:sp>
      <p:sp>
        <p:nvSpPr>
          <p:cNvPr id="45" name="Oval 2">
            <a:extLst>
              <a:ext uri="{FF2B5EF4-FFF2-40B4-BE49-F238E27FC236}">
                <a16:creationId xmlns:a16="http://schemas.microsoft.com/office/drawing/2014/main" id="{73CACD9E-4A7A-8D2D-FD1F-7B427DE099C4}"/>
              </a:ext>
            </a:extLst>
          </p:cNvPr>
          <p:cNvSpPr/>
          <p:nvPr/>
        </p:nvSpPr>
        <p:spPr>
          <a:xfrm>
            <a:off x="4366264" y="2424546"/>
            <a:ext cx="776186" cy="776186"/>
          </a:xfrm>
          <a:prstGeom prst="ellipse">
            <a:avLst/>
          </a:prstGeom>
          <a:solidFill>
            <a:srgbClr val="9BBB40"/>
          </a:solidFill>
          <a:ln w="76200" cmpd="sng">
            <a:solidFill>
              <a:srgbClr val="546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zh-CN" altLang="zh-CN" sz="2150">
              <a:solidFill>
                <a:srgbClr val="FFFFFF"/>
              </a:solidFill>
            </a:endParaRPr>
          </a:p>
        </p:txBody>
      </p:sp>
      <p:sp>
        <p:nvSpPr>
          <p:cNvPr id="46" name="Oval 14">
            <a:extLst>
              <a:ext uri="{FF2B5EF4-FFF2-40B4-BE49-F238E27FC236}">
                <a16:creationId xmlns:a16="http://schemas.microsoft.com/office/drawing/2014/main" id="{992F9701-AFDB-17EE-0042-799D46DCBB63}"/>
              </a:ext>
            </a:extLst>
          </p:cNvPr>
          <p:cNvSpPr/>
          <p:nvPr/>
        </p:nvSpPr>
        <p:spPr>
          <a:xfrm>
            <a:off x="7467564" y="2424546"/>
            <a:ext cx="776186" cy="776186"/>
          </a:xfrm>
          <a:prstGeom prst="ellipse">
            <a:avLst/>
          </a:prstGeom>
          <a:solidFill>
            <a:srgbClr val="F8841D"/>
          </a:solidFill>
          <a:ln w="76200" cmpd="sng">
            <a:solidFill>
              <a:srgbClr val="546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438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zh-CN" altLang="zh-CN" sz="2150">
              <a:solidFill>
                <a:srgbClr val="FFFFFF"/>
              </a:solidFill>
            </a:endParaRPr>
          </a:p>
        </p:txBody>
      </p:sp>
      <p:grpSp>
        <p:nvGrpSpPr>
          <p:cNvPr id="53" name="Group 67">
            <a:extLst>
              <a:ext uri="{FF2B5EF4-FFF2-40B4-BE49-F238E27FC236}">
                <a16:creationId xmlns:a16="http://schemas.microsoft.com/office/drawing/2014/main" id="{951AC904-C988-91CA-9C0B-F66B89913FDA}"/>
              </a:ext>
            </a:extLst>
          </p:cNvPr>
          <p:cNvGrpSpPr>
            <a:grpSpLocks noChangeAspect="1"/>
          </p:cNvGrpSpPr>
          <p:nvPr/>
        </p:nvGrpSpPr>
        <p:grpSpPr>
          <a:xfrm>
            <a:off x="4490942" y="2696465"/>
            <a:ext cx="540000" cy="190788"/>
            <a:chOff x="1441430" y="4357700"/>
            <a:chExt cx="503238" cy="177800"/>
          </a:xfrm>
          <a:solidFill>
            <a:schemeClr val="bg1"/>
          </a:solidFill>
        </p:grpSpPr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9741666F-E8B1-95AA-3070-D7E7886A8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430" y="4357700"/>
              <a:ext cx="231775" cy="177800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203" y="0"/>
                </a:cxn>
                <a:cxn ang="0">
                  <a:pos x="225" y="5"/>
                </a:cxn>
                <a:cxn ang="0">
                  <a:pos x="245" y="13"/>
                </a:cxn>
                <a:cxn ang="0">
                  <a:pos x="262" y="26"/>
                </a:cxn>
                <a:cxn ang="0">
                  <a:pos x="271" y="32"/>
                </a:cxn>
                <a:cxn ang="0">
                  <a:pos x="282" y="47"/>
                </a:cxn>
                <a:cxn ang="0">
                  <a:pos x="292" y="63"/>
                </a:cxn>
                <a:cxn ang="0">
                  <a:pos x="232" y="63"/>
                </a:cxn>
                <a:cxn ang="0">
                  <a:pos x="213" y="53"/>
                </a:cxn>
                <a:cxn ang="0">
                  <a:pos x="192" y="49"/>
                </a:cxn>
                <a:cxn ang="0">
                  <a:pos x="112" y="49"/>
                </a:cxn>
                <a:cxn ang="0">
                  <a:pos x="88" y="54"/>
                </a:cxn>
                <a:cxn ang="0">
                  <a:pos x="68" y="68"/>
                </a:cxn>
                <a:cxn ang="0">
                  <a:pos x="61" y="77"/>
                </a:cxn>
                <a:cxn ang="0">
                  <a:pos x="51" y="99"/>
                </a:cxn>
                <a:cxn ang="0">
                  <a:pos x="50" y="111"/>
                </a:cxn>
                <a:cxn ang="0">
                  <a:pos x="51" y="124"/>
                </a:cxn>
                <a:cxn ang="0">
                  <a:pos x="61" y="146"/>
                </a:cxn>
                <a:cxn ang="0">
                  <a:pos x="68" y="154"/>
                </a:cxn>
                <a:cxn ang="0">
                  <a:pos x="88" y="168"/>
                </a:cxn>
                <a:cxn ang="0">
                  <a:pos x="112" y="173"/>
                </a:cxn>
                <a:cxn ang="0">
                  <a:pos x="192" y="173"/>
                </a:cxn>
                <a:cxn ang="0">
                  <a:pos x="213" y="169"/>
                </a:cxn>
                <a:cxn ang="0">
                  <a:pos x="232" y="158"/>
                </a:cxn>
                <a:cxn ang="0">
                  <a:pos x="292" y="158"/>
                </a:cxn>
                <a:cxn ang="0">
                  <a:pos x="282" y="175"/>
                </a:cxn>
                <a:cxn ang="0">
                  <a:pos x="271" y="189"/>
                </a:cxn>
                <a:cxn ang="0">
                  <a:pos x="262" y="196"/>
                </a:cxn>
                <a:cxn ang="0">
                  <a:pos x="245" y="209"/>
                </a:cxn>
                <a:cxn ang="0">
                  <a:pos x="225" y="217"/>
                </a:cxn>
                <a:cxn ang="0">
                  <a:pos x="203" y="221"/>
                </a:cxn>
                <a:cxn ang="0">
                  <a:pos x="112" y="222"/>
                </a:cxn>
                <a:cxn ang="0">
                  <a:pos x="100" y="221"/>
                </a:cxn>
                <a:cxn ang="0">
                  <a:pos x="78" y="217"/>
                </a:cxn>
                <a:cxn ang="0">
                  <a:pos x="58" y="209"/>
                </a:cxn>
                <a:cxn ang="0">
                  <a:pos x="41" y="196"/>
                </a:cxn>
                <a:cxn ang="0">
                  <a:pos x="34" y="189"/>
                </a:cxn>
                <a:cxn ang="0">
                  <a:pos x="20" y="173"/>
                </a:cxn>
                <a:cxn ang="0">
                  <a:pos x="9" y="154"/>
                </a:cxn>
                <a:cxn ang="0">
                  <a:pos x="3" y="133"/>
                </a:cxn>
                <a:cxn ang="0">
                  <a:pos x="0" y="111"/>
                </a:cxn>
                <a:cxn ang="0">
                  <a:pos x="0" y="111"/>
                </a:cxn>
                <a:cxn ang="0">
                  <a:pos x="3" y="89"/>
                </a:cxn>
                <a:cxn ang="0">
                  <a:pos x="9" y="68"/>
                </a:cxn>
                <a:cxn ang="0">
                  <a:pos x="20" y="49"/>
                </a:cxn>
                <a:cxn ang="0">
                  <a:pos x="34" y="32"/>
                </a:cxn>
                <a:cxn ang="0">
                  <a:pos x="41" y="26"/>
                </a:cxn>
                <a:cxn ang="0">
                  <a:pos x="58" y="13"/>
                </a:cxn>
                <a:cxn ang="0">
                  <a:pos x="78" y="5"/>
                </a:cxn>
                <a:cxn ang="0">
                  <a:pos x="100" y="0"/>
                </a:cxn>
                <a:cxn ang="0">
                  <a:pos x="112" y="0"/>
                </a:cxn>
              </a:cxnLst>
              <a:rect l="0" t="0" r="r" b="b"/>
              <a:pathLst>
                <a:path w="292" h="222">
                  <a:moveTo>
                    <a:pt x="112" y="0"/>
                  </a:moveTo>
                  <a:lnTo>
                    <a:pt x="192" y="0"/>
                  </a:lnTo>
                  <a:lnTo>
                    <a:pt x="192" y="0"/>
                  </a:lnTo>
                  <a:lnTo>
                    <a:pt x="203" y="0"/>
                  </a:lnTo>
                  <a:lnTo>
                    <a:pt x="214" y="2"/>
                  </a:lnTo>
                  <a:lnTo>
                    <a:pt x="225" y="5"/>
                  </a:lnTo>
                  <a:lnTo>
                    <a:pt x="235" y="9"/>
                  </a:lnTo>
                  <a:lnTo>
                    <a:pt x="245" y="13"/>
                  </a:lnTo>
                  <a:lnTo>
                    <a:pt x="254" y="18"/>
                  </a:lnTo>
                  <a:lnTo>
                    <a:pt x="262" y="26"/>
                  </a:lnTo>
                  <a:lnTo>
                    <a:pt x="271" y="32"/>
                  </a:lnTo>
                  <a:lnTo>
                    <a:pt x="271" y="32"/>
                  </a:lnTo>
                  <a:lnTo>
                    <a:pt x="277" y="39"/>
                  </a:lnTo>
                  <a:lnTo>
                    <a:pt x="282" y="47"/>
                  </a:lnTo>
                  <a:lnTo>
                    <a:pt x="288" y="56"/>
                  </a:lnTo>
                  <a:lnTo>
                    <a:pt x="292" y="63"/>
                  </a:lnTo>
                  <a:lnTo>
                    <a:pt x="232" y="63"/>
                  </a:lnTo>
                  <a:lnTo>
                    <a:pt x="232" y="63"/>
                  </a:lnTo>
                  <a:lnTo>
                    <a:pt x="223" y="58"/>
                  </a:lnTo>
                  <a:lnTo>
                    <a:pt x="213" y="53"/>
                  </a:lnTo>
                  <a:lnTo>
                    <a:pt x="203" y="51"/>
                  </a:lnTo>
                  <a:lnTo>
                    <a:pt x="192" y="49"/>
                  </a:lnTo>
                  <a:lnTo>
                    <a:pt x="112" y="49"/>
                  </a:lnTo>
                  <a:lnTo>
                    <a:pt x="112" y="49"/>
                  </a:lnTo>
                  <a:lnTo>
                    <a:pt x="99" y="51"/>
                  </a:lnTo>
                  <a:lnTo>
                    <a:pt x="88" y="54"/>
                  </a:lnTo>
                  <a:lnTo>
                    <a:pt x="77" y="60"/>
                  </a:lnTo>
                  <a:lnTo>
                    <a:pt x="68" y="68"/>
                  </a:lnTo>
                  <a:lnTo>
                    <a:pt x="68" y="68"/>
                  </a:lnTo>
                  <a:lnTo>
                    <a:pt x="61" y="77"/>
                  </a:lnTo>
                  <a:lnTo>
                    <a:pt x="55" y="86"/>
                  </a:lnTo>
                  <a:lnTo>
                    <a:pt x="51" y="99"/>
                  </a:lnTo>
                  <a:lnTo>
                    <a:pt x="50" y="111"/>
                  </a:lnTo>
                  <a:lnTo>
                    <a:pt x="50" y="111"/>
                  </a:lnTo>
                  <a:lnTo>
                    <a:pt x="50" y="111"/>
                  </a:lnTo>
                  <a:lnTo>
                    <a:pt x="51" y="124"/>
                  </a:lnTo>
                  <a:lnTo>
                    <a:pt x="55" y="135"/>
                  </a:lnTo>
                  <a:lnTo>
                    <a:pt x="61" y="146"/>
                  </a:lnTo>
                  <a:lnTo>
                    <a:pt x="68" y="154"/>
                  </a:lnTo>
                  <a:lnTo>
                    <a:pt x="68" y="154"/>
                  </a:lnTo>
                  <a:lnTo>
                    <a:pt x="77" y="162"/>
                  </a:lnTo>
                  <a:lnTo>
                    <a:pt x="88" y="168"/>
                  </a:lnTo>
                  <a:lnTo>
                    <a:pt x="99" y="172"/>
                  </a:lnTo>
                  <a:lnTo>
                    <a:pt x="112" y="173"/>
                  </a:lnTo>
                  <a:lnTo>
                    <a:pt x="192" y="173"/>
                  </a:lnTo>
                  <a:lnTo>
                    <a:pt x="192" y="173"/>
                  </a:lnTo>
                  <a:lnTo>
                    <a:pt x="203" y="172"/>
                  </a:lnTo>
                  <a:lnTo>
                    <a:pt x="213" y="169"/>
                  </a:lnTo>
                  <a:lnTo>
                    <a:pt x="223" y="164"/>
                  </a:lnTo>
                  <a:lnTo>
                    <a:pt x="232" y="158"/>
                  </a:lnTo>
                  <a:lnTo>
                    <a:pt x="292" y="158"/>
                  </a:lnTo>
                  <a:lnTo>
                    <a:pt x="292" y="158"/>
                  </a:lnTo>
                  <a:lnTo>
                    <a:pt x="288" y="167"/>
                  </a:lnTo>
                  <a:lnTo>
                    <a:pt x="282" y="175"/>
                  </a:lnTo>
                  <a:lnTo>
                    <a:pt x="277" y="183"/>
                  </a:lnTo>
                  <a:lnTo>
                    <a:pt x="271" y="189"/>
                  </a:lnTo>
                  <a:lnTo>
                    <a:pt x="271" y="189"/>
                  </a:lnTo>
                  <a:lnTo>
                    <a:pt x="262" y="196"/>
                  </a:lnTo>
                  <a:lnTo>
                    <a:pt x="254" y="203"/>
                  </a:lnTo>
                  <a:lnTo>
                    <a:pt x="245" y="209"/>
                  </a:lnTo>
                  <a:lnTo>
                    <a:pt x="235" y="214"/>
                  </a:lnTo>
                  <a:lnTo>
                    <a:pt x="225" y="217"/>
                  </a:lnTo>
                  <a:lnTo>
                    <a:pt x="214" y="220"/>
                  </a:lnTo>
                  <a:lnTo>
                    <a:pt x="203" y="221"/>
                  </a:lnTo>
                  <a:lnTo>
                    <a:pt x="192" y="222"/>
                  </a:lnTo>
                  <a:lnTo>
                    <a:pt x="112" y="222"/>
                  </a:lnTo>
                  <a:lnTo>
                    <a:pt x="112" y="222"/>
                  </a:lnTo>
                  <a:lnTo>
                    <a:pt x="100" y="221"/>
                  </a:lnTo>
                  <a:lnTo>
                    <a:pt x="89" y="220"/>
                  </a:lnTo>
                  <a:lnTo>
                    <a:pt x="78" y="217"/>
                  </a:lnTo>
                  <a:lnTo>
                    <a:pt x="68" y="214"/>
                  </a:lnTo>
                  <a:lnTo>
                    <a:pt x="58" y="209"/>
                  </a:lnTo>
                  <a:lnTo>
                    <a:pt x="50" y="203"/>
                  </a:lnTo>
                  <a:lnTo>
                    <a:pt x="41" y="196"/>
                  </a:lnTo>
                  <a:lnTo>
                    <a:pt x="34" y="189"/>
                  </a:lnTo>
                  <a:lnTo>
                    <a:pt x="34" y="189"/>
                  </a:lnTo>
                  <a:lnTo>
                    <a:pt x="26" y="182"/>
                  </a:lnTo>
                  <a:lnTo>
                    <a:pt x="20" y="173"/>
                  </a:lnTo>
                  <a:lnTo>
                    <a:pt x="14" y="164"/>
                  </a:lnTo>
                  <a:lnTo>
                    <a:pt x="9" y="154"/>
                  </a:lnTo>
                  <a:lnTo>
                    <a:pt x="5" y="143"/>
                  </a:lnTo>
                  <a:lnTo>
                    <a:pt x="3" y="133"/>
                  </a:lnTo>
                  <a:lnTo>
                    <a:pt x="2" y="122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00"/>
                  </a:lnTo>
                  <a:lnTo>
                    <a:pt x="3" y="89"/>
                  </a:lnTo>
                  <a:lnTo>
                    <a:pt x="5" y="78"/>
                  </a:lnTo>
                  <a:lnTo>
                    <a:pt x="9" y="68"/>
                  </a:lnTo>
                  <a:lnTo>
                    <a:pt x="14" y="58"/>
                  </a:lnTo>
                  <a:lnTo>
                    <a:pt x="20" y="49"/>
                  </a:lnTo>
                  <a:lnTo>
                    <a:pt x="26" y="41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41" y="26"/>
                  </a:lnTo>
                  <a:lnTo>
                    <a:pt x="50" y="18"/>
                  </a:lnTo>
                  <a:lnTo>
                    <a:pt x="58" y="13"/>
                  </a:lnTo>
                  <a:lnTo>
                    <a:pt x="68" y="9"/>
                  </a:lnTo>
                  <a:lnTo>
                    <a:pt x="78" y="5"/>
                  </a:lnTo>
                  <a:lnTo>
                    <a:pt x="89" y="2"/>
                  </a:lnTo>
                  <a:lnTo>
                    <a:pt x="100" y="0"/>
                  </a:lnTo>
                  <a:lnTo>
                    <a:pt x="112" y="0"/>
                  </a:lnTo>
                  <a:lnTo>
                    <a:pt x="11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595959"/>
                </a:solidFill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674625B-845F-029E-0C4B-938F0A487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480" y="4357700"/>
              <a:ext cx="230188" cy="177800"/>
            </a:xfrm>
            <a:custGeom>
              <a:avLst/>
              <a:gdLst/>
              <a:ahLst/>
              <a:cxnLst>
                <a:cxn ang="0">
                  <a:pos x="181" y="0"/>
                </a:cxn>
                <a:cxn ang="0">
                  <a:pos x="192" y="0"/>
                </a:cxn>
                <a:cxn ang="0">
                  <a:pos x="213" y="5"/>
                </a:cxn>
                <a:cxn ang="0">
                  <a:pos x="234" y="13"/>
                </a:cxn>
                <a:cxn ang="0">
                  <a:pos x="251" y="26"/>
                </a:cxn>
                <a:cxn ang="0">
                  <a:pos x="258" y="32"/>
                </a:cxn>
                <a:cxn ang="0">
                  <a:pos x="272" y="49"/>
                </a:cxn>
                <a:cxn ang="0">
                  <a:pos x="283" y="68"/>
                </a:cxn>
                <a:cxn ang="0">
                  <a:pos x="289" y="89"/>
                </a:cxn>
                <a:cxn ang="0">
                  <a:pos x="292" y="111"/>
                </a:cxn>
                <a:cxn ang="0">
                  <a:pos x="292" y="111"/>
                </a:cxn>
                <a:cxn ang="0">
                  <a:pos x="289" y="133"/>
                </a:cxn>
                <a:cxn ang="0">
                  <a:pos x="283" y="154"/>
                </a:cxn>
                <a:cxn ang="0">
                  <a:pos x="272" y="173"/>
                </a:cxn>
                <a:cxn ang="0">
                  <a:pos x="258" y="189"/>
                </a:cxn>
                <a:cxn ang="0">
                  <a:pos x="251" y="196"/>
                </a:cxn>
                <a:cxn ang="0">
                  <a:pos x="234" y="209"/>
                </a:cxn>
                <a:cxn ang="0">
                  <a:pos x="213" y="217"/>
                </a:cxn>
                <a:cxn ang="0">
                  <a:pos x="192" y="221"/>
                </a:cxn>
                <a:cxn ang="0">
                  <a:pos x="100" y="222"/>
                </a:cxn>
                <a:cxn ang="0">
                  <a:pos x="89" y="221"/>
                </a:cxn>
                <a:cxn ang="0">
                  <a:pos x="67" y="217"/>
                </a:cxn>
                <a:cxn ang="0">
                  <a:pos x="47" y="209"/>
                </a:cxn>
                <a:cxn ang="0">
                  <a:pos x="30" y="196"/>
                </a:cxn>
                <a:cxn ang="0">
                  <a:pos x="21" y="189"/>
                </a:cxn>
                <a:cxn ang="0">
                  <a:pos x="9" y="175"/>
                </a:cxn>
                <a:cxn ang="0">
                  <a:pos x="0" y="158"/>
                </a:cxn>
                <a:cxn ang="0">
                  <a:pos x="61" y="158"/>
                </a:cxn>
                <a:cxn ang="0">
                  <a:pos x="79" y="169"/>
                </a:cxn>
                <a:cxn ang="0">
                  <a:pos x="100" y="173"/>
                </a:cxn>
                <a:cxn ang="0">
                  <a:pos x="181" y="173"/>
                </a:cxn>
                <a:cxn ang="0">
                  <a:pos x="204" y="168"/>
                </a:cxn>
                <a:cxn ang="0">
                  <a:pos x="224" y="154"/>
                </a:cxn>
                <a:cxn ang="0">
                  <a:pos x="231" y="146"/>
                </a:cxn>
                <a:cxn ang="0">
                  <a:pos x="241" y="124"/>
                </a:cxn>
                <a:cxn ang="0">
                  <a:pos x="242" y="111"/>
                </a:cxn>
                <a:cxn ang="0">
                  <a:pos x="241" y="99"/>
                </a:cxn>
                <a:cxn ang="0">
                  <a:pos x="231" y="77"/>
                </a:cxn>
                <a:cxn ang="0">
                  <a:pos x="224" y="68"/>
                </a:cxn>
                <a:cxn ang="0">
                  <a:pos x="204" y="54"/>
                </a:cxn>
                <a:cxn ang="0">
                  <a:pos x="181" y="49"/>
                </a:cxn>
                <a:cxn ang="0">
                  <a:pos x="100" y="49"/>
                </a:cxn>
                <a:cxn ang="0">
                  <a:pos x="79" y="53"/>
                </a:cxn>
                <a:cxn ang="0">
                  <a:pos x="61" y="63"/>
                </a:cxn>
                <a:cxn ang="0">
                  <a:pos x="0" y="63"/>
                </a:cxn>
                <a:cxn ang="0">
                  <a:pos x="9" y="47"/>
                </a:cxn>
                <a:cxn ang="0">
                  <a:pos x="21" y="32"/>
                </a:cxn>
                <a:cxn ang="0">
                  <a:pos x="30" y="26"/>
                </a:cxn>
                <a:cxn ang="0">
                  <a:pos x="47" y="13"/>
                </a:cxn>
                <a:cxn ang="0">
                  <a:pos x="67" y="5"/>
                </a:cxn>
                <a:cxn ang="0">
                  <a:pos x="89" y="0"/>
                </a:cxn>
                <a:cxn ang="0">
                  <a:pos x="100" y="0"/>
                </a:cxn>
              </a:cxnLst>
              <a:rect l="0" t="0" r="r" b="b"/>
              <a:pathLst>
                <a:path w="292" h="222">
                  <a:moveTo>
                    <a:pt x="100" y="0"/>
                  </a:moveTo>
                  <a:lnTo>
                    <a:pt x="181" y="0"/>
                  </a:lnTo>
                  <a:lnTo>
                    <a:pt x="181" y="0"/>
                  </a:lnTo>
                  <a:lnTo>
                    <a:pt x="192" y="0"/>
                  </a:lnTo>
                  <a:lnTo>
                    <a:pt x="203" y="2"/>
                  </a:lnTo>
                  <a:lnTo>
                    <a:pt x="213" y="5"/>
                  </a:lnTo>
                  <a:lnTo>
                    <a:pt x="224" y="9"/>
                  </a:lnTo>
                  <a:lnTo>
                    <a:pt x="234" y="13"/>
                  </a:lnTo>
                  <a:lnTo>
                    <a:pt x="242" y="18"/>
                  </a:lnTo>
                  <a:lnTo>
                    <a:pt x="251" y="26"/>
                  </a:lnTo>
                  <a:lnTo>
                    <a:pt x="258" y="32"/>
                  </a:lnTo>
                  <a:lnTo>
                    <a:pt x="258" y="32"/>
                  </a:lnTo>
                  <a:lnTo>
                    <a:pt x="266" y="41"/>
                  </a:lnTo>
                  <a:lnTo>
                    <a:pt x="272" y="49"/>
                  </a:lnTo>
                  <a:lnTo>
                    <a:pt x="278" y="58"/>
                  </a:lnTo>
                  <a:lnTo>
                    <a:pt x="283" y="68"/>
                  </a:lnTo>
                  <a:lnTo>
                    <a:pt x="287" y="78"/>
                  </a:lnTo>
                  <a:lnTo>
                    <a:pt x="289" y="89"/>
                  </a:lnTo>
                  <a:lnTo>
                    <a:pt x="291" y="100"/>
                  </a:lnTo>
                  <a:lnTo>
                    <a:pt x="292" y="111"/>
                  </a:lnTo>
                  <a:lnTo>
                    <a:pt x="292" y="111"/>
                  </a:lnTo>
                  <a:lnTo>
                    <a:pt x="292" y="111"/>
                  </a:lnTo>
                  <a:lnTo>
                    <a:pt x="291" y="122"/>
                  </a:lnTo>
                  <a:lnTo>
                    <a:pt x="289" y="133"/>
                  </a:lnTo>
                  <a:lnTo>
                    <a:pt x="287" y="143"/>
                  </a:lnTo>
                  <a:lnTo>
                    <a:pt x="283" y="154"/>
                  </a:lnTo>
                  <a:lnTo>
                    <a:pt x="278" y="164"/>
                  </a:lnTo>
                  <a:lnTo>
                    <a:pt x="272" y="173"/>
                  </a:lnTo>
                  <a:lnTo>
                    <a:pt x="266" y="182"/>
                  </a:lnTo>
                  <a:lnTo>
                    <a:pt x="258" y="189"/>
                  </a:lnTo>
                  <a:lnTo>
                    <a:pt x="258" y="189"/>
                  </a:lnTo>
                  <a:lnTo>
                    <a:pt x="251" y="196"/>
                  </a:lnTo>
                  <a:lnTo>
                    <a:pt x="242" y="203"/>
                  </a:lnTo>
                  <a:lnTo>
                    <a:pt x="234" y="209"/>
                  </a:lnTo>
                  <a:lnTo>
                    <a:pt x="224" y="214"/>
                  </a:lnTo>
                  <a:lnTo>
                    <a:pt x="213" y="217"/>
                  </a:lnTo>
                  <a:lnTo>
                    <a:pt x="203" y="220"/>
                  </a:lnTo>
                  <a:lnTo>
                    <a:pt x="192" y="221"/>
                  </a:lnTo>
                  <a:lnTo>
                    <a:pt x="181" y="222"/>
                  </a:lnTo>
                  <a:lnTo>
                    <a:pt x="100" y="222"/>
                  </a:lnTo>
                  <a:lnTo>
                    <a:pt x="100" y="222"/>
                  </a:lnTo>
                  <a:lnTo>
                    <a:pt x="89" y="221"/>
                  </a:lnTo>
                  <a:lnTo>
                    <a:pt x="78" y="220"/>
                  </a:lnTo>
                  <a:lnTo>
                    <a:pt x="67" y="217"/>
                  </a:lnTo>
                  <a:lnTo>
                    <a:pt x="57" y="214"/>
                  </a:lnTo>
                  <a:lnTo>
                    <a:pt x="47" y="209"/>
                  </a:lnTo>
                  <a:lnTo>
                    <a:pt x="38" y="203"/>
                  </a:lnTo>
                  <a:lnTo>
                    <a:pt x="30" y="196"/>
                  </a:lnTo>
                  <a:lnTo>
                    <a:pt x="21" y="189"/>
                  </a:lnTo>
                  <a:lnTo>
                    <a:pt x="21" y="189"/>
                  </a:lnTo>
                  <a:lnTo>
                    <a:pt x="15" y="183"/>
                  </a:lnTo>
                  <a:lnTo>
                    <a:pt x="9" y="175"/>
                  </a:lnTo>
                  <a:lnTo>
                    <a:pt x="4" y="167"/>
                  </a:lnTo>
                  <a:lnTo>
                    <a:pt x="0" y="158"/>
                  </a:lnTo>
                  <a:lnTo>
                    <a:pt x="61" y="158"/>
                  </a:lnTo>
                  <a:lnTo>
                    <a:pt x="61" y="158"/>
                  </a:lnTo>
                  <a:lnTo>
                    <a:pt x="69" y="164"/>
                  </a:lnTo>
                  <a:lnTo>
                    <a:pt x="79" y="169"/>
                  </a:lnTo>
                  <a:lnTo>
                    <a:pt x="89" y="172"/>
                  </a:lnTo>
                  <a:lnTo>
                    <a:pt x="100" y="173"/>
                  </a:lnTo>
                  <a:lnTo>
                    <a:pt x="181" y="173"/>
                  </a:lnTo>
                  <a:lnTo>
                    <a:pt x="181" y="173"/>
                  </a:lnTo>
                  <a:lnTo>
                    <a:pt x="193" y="172"/>
                  </a:lnTo>
                  <a:lnTo>
                    <a:pt x="204" y="168"/>
                  </a:lnTo>
                  <a:lnTo>
                    <a:pt x="215" y="162"/>
                  </a:lnTo>
                  <a:lnTo>
                    <a:pt x="224" y="154"/>
                  </a:lnTo>
                  <a:lnTo>
                    <a:pt x="224" y="154"/>
                  </a:lnTo>
                  <a:lnTo>
                    <a:pt x="231" y="146"/>
                  </a:lnTo>
                  <a:lnTo>
                    <a:pt x="237" y="135"/>
                  </a:lnTo>
                  <a:lnTo>
                    <a:pt x="241" y="124"/>
                  </a:lnTo>
                  <a:lnTo>
                    <a:pt x="242" y="111"/>
                  </a:lnTo>
                  <a:lnTo>
                    <a:pt x="242" y="111"/>
                  </a:lnTo>
                  <a:lnTo>
                    <a:pt x="242" y="111"/>
                  </a:lnTo>
                  <a:lnTo>
                    <a:pt x="241" y="99"/>
                  </a:lnTo>
                  <a:lnTo>
                    <a:pt x="237" y="86"/>
                  </a:lnTo>
                  <a:lnTo>
                    <a:pt x="231" y="77"/>
                  </a:lnTo>
                  <a:lnTo>
                    <a:pt x="224" y="68"/>
                  </a:lnTo>
                  <a:lnTo>
                    <a:pt x="224" y="68"/>
                  </a:lnTo>
                  <a:lnTo>
                    <a:pt x="215" y="60"/>
                  </a:lnTo>
                  <a:lnTo>
                    <a:pt x="204" y="54"/>
                  </a:lnTo>
                  <a:lnTo>
                    <a:pt x="193" y="51"/>
                  </a:lnTo>
                  <a:lnTo>
                    <a:pt x="181" y="49"/>
                  </a:lnTo>
                  <a:lnTo>
                    <a:pt x="100" y="49"/>
                  </a:lnTo>
                  <a:lnTo>
                    <a:pt x="100" y="49"/>
                  </a:lnTo>
                  <a:lnTo>
                    <a:pt x="89" y="51"/>
                  </a:lnTo>
                  <a:lnTo>
                    <a:pt x="79" y="53"/>
                  </a:lnTo>
                  <a:lnTo>
                    <a:pt x="69" y="58"/>
                  </a:lnTo>
                  <a:lnTo>
                    <a:pt x="61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56"/>
                  </a:lnTo>
                  <a:lnTo>
                    <a:pt x="9" y="47"/>
                  </a:lnTo>
                  <a:lnTo>
                    <a:pt x="15" y="39"/>
                  </a:lnTo>
                  <a:lnTo>
                    <a:pt x="21" y="32"/>
                  </a:lnTo>
                  <a:lnTo>
                    <a:pt x="21" y="32"/>
                  </a:lnTo>
                  <a:lnTo>
                    <a:pt x="30" y="26"/>
                  </a:lnTo>
                  <a:lnTo>
                    <a:pt x="38" y="18"/>
                  </a:lnTo>
                  <a:lnTo>
                    <a:pt x="47" y="13"/>
                  </a:lnTo>
                  <a:lnTo>
                    <a:pt x="57" y="9"/>
                  </a:lnTo>
                  <a:lnTo>
                    <a:pt x="67" y="5"/>
                  </a:lnTo>
                  <a:lnTo>
                    <a:pt x="78" y="2"/>
                  </a:lnTo>
                  <a:lnTo>
                    <a:pt x="89" y="0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595959"/>
                </a:solidFill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4B8B0DE-866A-E922-1DAB-214E031EA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767" y="4427550"/>
              <a:ext cx="195263" cy="36513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224" y="0"/>
                </a:cxn>
                <a:cxn ang="0">
                  <a:pos x="224" y="0"/>
                </a:cxn>
                <a:cxn ang="0">
                  <a:pos x="229" y="1"/>
                </a:cxn>
                <a:cxn ang="0">
                  <a:pos x="233" y="2"/>
                </a:cxn>
                <a:cxn ang="0">
                  <a:pos x="236" y="5"/>
                </a:cxn>
                <a:cxn ang="0">
                  <a:pos x="240" y="7"/>
                </a:cxn>
                <a:cxn ang="0">
                  <a:pos x="242" y="11"/>
                </a:cxn>
                <a:cxn ang="0">
                  <a:pos x="245" y="14"/>
                </a:cxn>
                <a:cxn ang="0">
                  <a:pos x="246" y="18"/>
                </a:cxn>
                <a:cxn ang="0">
                  <a:pos x="246" y="23"/>
                </a:cxn>
                <a:cxn ang="0">
                  <a:pos x="246" y="23"/>
                </a:cxn>
                <a:cxn ang="0">
                  <a:pos x="246" y="23"/>
                </a:cxn>
                <a:cxn ang="0">
                  <a:pos x="246" y="28"/>
                </a:cxn>
                <a:cxn ang="0">
                  <a:pos x="245" y="32"/>
                </a:cxn>
                <a:cxn ang="0">
                  <a:pos x="242" y="36"/>
                </a:cxn>
                <a:cxn ang="0">
                  <a:pos x="240" y="39"/>
                </a:cxn>
                <a:cxn ang="0">
                  <a:pos x="236" y="42"/>
                </a:cxn>
                <a:cxn ang="0">
                  <a:pos x="233" y="44"/>
                </a:cxn>
                <a:cxn ang="0">
                  <a:pos x="229" y="45"/>
                </a:cxn>
                <a:cxn ang="0">
                  <a:pos x="224" y="45"/>
                </a:cxn>
                <a:cxn ang="0">
                  <a:pos x="24" y="45"/>
                </a:cxn>
                <a:cxn ang="0">
                  <a:pos x="24" y="45"/>
                </a:cxn>
                <a:cxn ang="0">
                  <a:pos x="19" y="45"/>
                </a:cxn>
                <a:cxn ang="0">
                  <a:pos x="14" y="44"/>
                </a:cxn>
                <a:cxn ang="0">
                  <a:pos x="10" y="42"/>
                </a:cxn>
                <a:cxn ang="0">
                  <a:pos x="6" y="39"/>
                </a:cxn>
                <a:cxn ang="0">
                  <a:pos x="4" y="36"/>
                </a:cxn>
                <a:cxn ang="0">
                  <a:pos x="3" y="32"/>
                </a:cxn>
                <a:cxn ang="0">
                  <a:pos x="0" y="28"/>
                </a:cxn>
                <a:cxn ang="0">
                  <a:pos x="0" y="23"/>
                </a:cxn>
                <a:cxn ang="0">
                  <a:pos x="0" y="23"/>
                </a:cxn>
                <a:cxn ang="0">
                  <a:pos x="0" y="23"/>
                </a:cxn>
                <a:cxn ang="0">
                  <a:pos x="0" y="18"/>
                </a:cxn>
                <a:cxn ang="0">
                  <a:pos x="3" y="14"/>
                </a:cxn>
                <a:cxn ang="0">
                  <a:pos x="4" y="11"/>
                </a:cxn>
                <a:cxn ang="0">
                  <a:pos x="6" y="7"/>
                </a:cxn>
                <a:cxn ang="0">
                  <a:pos x="10" y="5"/>
                </a:cxn>
                <a:cxn ang="0">
                  <a:pos x="14" y="2"/>
                </a:cxn>
                <a:cxn ang="0">
                  <a:pos x="19" y="1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6" h="45">
                  <a:moveTo>
                    <a:pt x="24" y="0"/>
                  </a:moveTo>
                  <a:lnTo>
                    <a:pt x="224" y="0"/>
                  </a:lnTo>
                  <a:lnTo>
                    <a:pt x="224" y="0"/>
                  </a:lnTo>
                  <a:lnTo>
                    <a:pt x="229" y="1"/>
                  </a:lnTo>
                  <a:lnTo>
                    <a:pt x="233" y="2"/>
                  </a:lnTo>
                  <a:lnTo>
                    <a:pt x="236" y="5"/>
                  </a:lnTo>
                  <a:lnTo>
                    <a:pt x="240" y="7"/>
                  </a:lnTo>
                  <a:lnTo>
                    <a:pt x="242" y="11"/>
                  </a:lnTo>
                  <a:lnTo>
                    <a:pt x="245" y="14"/>
                  </a:lnTo>
                  <a:lnTo>
                    <a:pt x="246" y="18"/>
                  </a:lnTo>
                  <a:lnTo>
                    <a:pt x="246" y="23"/>
                  </a:lnTo>
                  <a:lnTo>
                    <a:pt x="246" y="23"/>
                  </a:lnTo>
                  <a:lnTo>
                    <a:pt x="246" y="23"/>
                  </a:lnTo>
                  <a:lnTo>
                    <a:pt x="246" y="28"/>
                  </a:lnTo>
                  <a:lnTo>
                    <a:pt x="245" y="32"/>
                  </a:lnTo>
                  <a:lnTo>
                    <a:pt x="242" y="36"/>
                  </a:lnTo>
                  <a:lnTo>
                    <a:pt x="240" y="39"/>
                  </a:lnTo>
                  <a:lnTo>
                    <a:pt x="236" y="42"/>
                  </a:lnTo>
                  <a:lnTo>
                    <a:pt x="233" y="44"/>
                  </a:lnTo>
                  <a:lnTo>
                    <a:pt x="229" y="45"/>
                  </a:lnTo>
                  <a:lnTo>
                    <a:pt x="224" y="45"/>
                  </a:lnTo>
                  <a:lnTo>
                    <a:pt x="24" y="45"/>
                  </a:lnTo>
                  <a:lnTo>
                    <a:pt x="24" y="45"/>
                  </a:lnTo>
                  <a:lnTo>
                    <a:pt x="19" y="45"/>
                  </a:lnTo>
                  <a:lnTo>
                    <a:pt x="14" y="44"/>
                  </a:lnTo>
                  <a:lnTo>
                    <a:pt x="10" y="42"/>
                  </a:lnTo>
                  <a:lnTo>
                    <a:pt x="6" y="39"/>
                  </a:lnTo>
                  <a:lnTo>
                    <a:pt x="4" y="36"/>
                  </a:lnTo>
                  <a:lnTo>
                    <a:pt x="3" y="32"/>
                  </a:lnTo>
                  <a:lnTo>
                    <a:pt x="0" y="28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18"/>
                  </a:lnTo>
                  <a:lnTo>
                    <a:pt x="3" y="14"/>
                  </a:lnTo>
                  <a:lnTo>
                    <a:pt x="4" y="11"/>
                  </a:lnTo>
                  <a:lnTo>
                    <a:pt x="6" y="7"/>
                  </a:lnTo>
                  <a:lnTo>
                    <a:pt x="10" y="5"/>
                  </a:lnTo>
                  <a:lnTo>
                    <a:pt x="14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595959"/>
                </a:solidFill>
              </a:endParaRPr>
            </a:p>
          </p:txBody>
        </p:sp>
      </p:grpSp>
      <p:sp>
        <p:nvSpPr>
          <p:cNvPr id="71" name="Rectangle 58">
            <a:extLst>
              <a:ext uri="{FF2B5EF4-FFF2-40B4-BE49-F238E27FC236}">
                <a16:creationId xmlns:a16="http://schemas.microsoft.com/office/drawing/2014/main" id="{665096BA-E8D2-2090-C6BE-B66AFF744511}"/>
              </a:ext>
            </a:extLst>
          </p:cNvPr>
          <p:cNvSpPr/>
          <p:nvPr/>
        </p:nvSpPr>
        <p:spPr>
          <a:xfrm>
            <a:off x="1459135" y="803525"/>
            <a:ext cx="5237726" cy="402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3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我们使用了三种简单基线模型对数据进行简单处理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45162F2-029C-9D41-5DB4-44CE1C4E57AD}"/>
              </a:ext>
            </a:extLst>
          </p:cNvPr>
          <p:cNvSpPr/>
          <p:nvPr/>
        </p:nvSpPr>
        <p:spPr>
          <a:xfrm>
            <a:off x="1459135" y="4634983"/>
            <a:ext cx="9545124" cy="12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同时，在进行基线模型拟合前，我们也对数据进行了初步处理，如使用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目标变量转换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，将事故进行简化，使其成为二分类问题。与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数据标准化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，在训练模型前，对所有数值特征进行缩放，使其均值为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，方差为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，确保不同量纲的特征在逻辑回归和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KNN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等算法中具有同等权重。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B8AC9FAA-F989-226B-1305-4C0D19630A32}"/>
              </a:ext>
            </a:extLst>
          </p:cNvPr>
          <p:cNvCxnSpPr/>
          <p:nvPr/>
        </p:nvCxnSpPr>
        <p:spPr>
          <a:xfrm>
            <a:off x="693528" y="4486791"/>
            <a:ext cx="10989612" cy="0"/>
          </a:xfrm>
          <a:prstGeom prst="line">
            <a:avLst/>
          </a:prstGeom>
          <a:ln w="28575">
            <a:solidFill>
              <a:srgbClr val="5EC6D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67">
            <a:extLst>
              <a:ext uri="{FF2B5EF4-FFF2-40B4-BE49-F238E27FC236}">
                <a16:creationId xmlns:a16="http://schemas.microsoft.com/office/drawing/2014/main" id="{521B3F05-5806-2324-5180-8A3B26A6FC12}"/>
              </a:ext>
            </a:extLst>
          </p:cNvPr>
          <p:cNvGrpSpPr>
            <a:grpSpLocks noChangeAspect="1"/>
          </p:cNvGrpSpPr>
          <p:nvPr/>
        </p:nvGrpSpPr>
        <p:grpSpPr>
          <a:xfrm>
            <a:off x="7585657" y="2696465"/>
            <a:ext cx="540000" cy="190788"/>
            <a:chOff x="1441430" y="4357700"/>
            <a:chExt cx="503238" cy="177800"/>
          </a:xfrm>
          <a:solidFill>
            <a:schemeClr val="bg1"/>
          </a:solidFill>
        </p:grpSpPr>
        <p:sp>
          <p:nvSpPr>
            <p:cNvPr id="75" name="Freeform 19">
              <a:extLst>
                <a:ext uri="{FF2B5EF4-FFF2-40B4-BE49-F238E27FC236}">
                  <a16:creationId xmlns:a16="http://schemas.microsoft.com/office/drawing/2014/main" id="{23C957DD-891E-C455-8699-16B3D54C9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430" y="4357700"/>
              <a:ext cx="231775" cy="177800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203" y="0"/>
                </a:cxn>
                <a:cxn ang="0">
                  <a:pos x="225" y="5"/>
                </a:cxn>
                <a:cxn ang="0">
                  <a:pos x="245" y="13"/>
                </a:cxn>
                <a:cxn ang="0">
                  <a:pos x="262" y="26"/>
                </a:cxn>
                <a:cxn ang="0">
                  <a:pos x="271" y="32"/>
                </a:cxn>
                <a:cxn ang="0">
                  <a:pos x="282" y="47"/>
                </a:cxn>
                <a:cxn ang="0">
                  <a:pos x="292" y="63"/>
                </a:cxn>
                <a:cxn ang="0">
                  <a:pos x="232" y="63"/>
                </a:cxn>
                <a:cxn ang="0">
                  <a:pos x="213" y="53"/>
                </a:cxn>
                <a:cxn ang="0">
                  <a:pos x="192" y="49"/>
                </a:cxn>
                <a:cxn ang="0">
                  <a:pos x="112" y="49"/>
                </a:cxn>
                <a:cxn ang="0">
                  <a:pos x="88" y="54"/>
                </a:cxn>
                <a:cxn ang="0">
                  <a:pos x="68" y="68"/>
                </a:cxn>
                <a:cxn ang="0">
                  <a:pos x="61" y="77"/>
                </a:cxn>
                <a:cxn ang="0">
                  <a:pos x="51" y="99"/>
                </a:cxn>
                <a:cxn ang="0">
                  <a:pos x="50" y="111"/>
                </a:cxn>
                <a:cxn ang="0">
                  <a:pos x="51" y="124"/>
                </a:cxn>
                <a:cxn ang="0">
                  <a:pos x="61" y="146"/>
                </a:cxn>
                <a:cxn ang="0">
                  <a:pos x="68" y="154"/>
                </a:cxn>
                <a:cxn ang="0">
                  <a:pos x="88" y="168"/>
                </a:cxn>
                <a:cxn ang="0">
                  <a:pos x="112" y="173"/>
                </a:cxn>
                <a:cxn ang="0">
                  <a:pos x="192" y="173"/>
                </a:cxn>
                <a:cxn ang="0">
                  <a:pos x="213" y="169"/>
                </a:cxn>
                <a:cxn ang="0">
                  <a:pos x="232" y="158"/>
                </a:cxn>
                <a:cxn ang="0">
                  <a:pos x="292" y="158"/>
                </a:cxn>
                <a:cxn ang="0">
                  <a:pos x="282" y="175"/>
                </a:cxn>
                <a:cxn ang="0">
                  <a:pos x="271" y="189"/>
                </a:cxn>
                <a:cxn ang="0">
                  <a:pos x="262" y="196"/>
                </a:cxn>
                <a:cxn ang="0">
                  <a:pos x="245" y="209"/>
                </a:cxn>
                <a:cxn ang="0">
                  <a:pos x="225" y="217"/>
                </a:cxn>
                <a:cxn ang="0">
                  <a:pos x="203" y="221"/>
                </a:cxn>
                <a:cxn ang="0">
                  <a:pos x="112" y="222"/>
                </a:cxn>
                <a:cxn ang="0">
                  <a:pos x="100" y="221"/>
                </a:cxn>
                <a:cxn ang="0">
                  <a:pos x="78" y="217"/>
                </a:cxn>
                <a:cxn ang="0">
                  <a:pos x="58" y="209"/>
                </a:cxn>
                <a:cxn ang="0">
                  <a:pos x="41" y="196"/>
                </a:cxn>
                <a:cxn ang="0">
                  <a:pos x="34" y="189"/>
                </a:cxn>
                <a:cxn ang="0">
                  <a:pos x="20" y="173"/>
                </a:cxn>
                <a:cxn ang="0">
                  <a:pos x="9" y="154"/>
                </a:cxn>
                <a:cxn ang="0">
                  <a:pos x="3" y="133"/>
                </a:cxn>
                <a:cxn ang="0">
                  <a:pos x="0" y="111"/>
                </a:cxn>
                <a:cxn ang="0">
                  <a:pos x="0" y="111"/>
                </a:cxn>
                <a:cxn ang="0">
                  <a:pos x="3" y="89"/>
                </a:cxn>
                <a:cxn ang="0">
                  <a:pos x="9" y="68"/>
                </a:cxn>
                <a:cxn ang="0">
                  <a:pos x="20" y="49"/>
                </a:cxn>
                <a:cxn ang="0">
                  <a:pos x="34" y="32"/>
                </a:cxn>
                <a:cxn ang="0">
                  <a:pos x="41" y="26"/>
                </a:cxn>
                <a:cxn ang="0">
                  <a:pos x="58" y="13"/>
                </a:cxn>
                <a:cxn ang="0">
                  <a:pos x="78" y="5"/>
                </a:cxn>
                <a:cxn ang="0">
                  <a:pos x="100" y="0"/>
                </a:cxn>
                <a:cxn ang="0">
                  <a:pos x="112" y="0"/>
                </a:cxn>
              </a:cxnLst>
              <a:rect l="0" t="0" r="r" b="b"/>
              <a:pathLst>
                <a:path w="292" h="222">
                  <a:moveTo>
                    <a:pt x="112" y="0"/>
                  </a:moveTo>
                  <a:lnTo>
                    <a:pt x="192" y="0"/>
                  </a:lnTo>
                  <a:lnTo>
                    <a:pt x="192" y="0"/>
                  </a:lnTo>
                  <a:lnTo>
                    <a:pt x="203" y="0"/>
                  </a:lnTo>
                  <a:lnTo>
                    <a:pt x="214" y="2"/>
                  </a:lnTo>
                  <a:lnTo>
                    <a:pt x="225" y="5"/>
                  </a:lnTo>
                  <a:lnTo>
                    <a:pt x="235" y="9"/>
                  </a:lnTo>
                  <a:lnTo>
                    <a:pt x="245" y="13"/>
                  </a:lnTo>
                  <a:lnTo>
                    <a:pt x="254" y="18"/>
                  </a:lnTo>
                  <a:lnTo>
                    <a:pt x="262" y="26"/>
                  </a:lnTo>
                  <a:lnTo>
                    <a:pt x="271" y="32"/>
                  </a:lnTo>
                  <a:lnTo>
                    <a:pt x="271" y="32"/>
                  </a:lnTo>
                  <a:lnTo>
                    <a:pt x="277" y="39"/>
                  </a:lnTo>
                  <a:lnTo>
                    <a:pt x="282" y="47"/>
                  </a:lnTo>
                  <a:lnTo>
                    <a:pt x="288" y="56"/>
                  </a:lnTo>
                  <a:lnTo>
                    <a:pt x="292" y="63"/>
                  </a:lnTo>
                  <a:lnTo>
                    <a:pt x="232" y="63"/>
                  </a:lnTo>
                  <a:lnTo>
                    <a:pt x="232" y="63"/>
                  </a:lnTo>
                  <a:lnTo>
                    <a:pt x="223" y="58"/>
                  </a:lnTo>
                  <a:lnTo>
                    <a:pt x="213" y="53"/>
                  </a:lnTo>
                  <a:lnTo>
                    <a:pt x="203" y="51"/>
                  </a:lnTo>
                  <a:lnTo>
                    <a:pt x="192" y="49"/>
                  </a:lnTo>
                  <a:lnTo>
                    <a:pt x="112" y="49"/>
                  </a:lnTo>
                  <a:lnTo>
                    <a:pt x="112" y="49"/>
                  </a:lnTo>
                  <a:lnTo>
                    <a:pt x="99" y="51"/>
                  </a:lnTo>
                  <a:lnTo>
                    <a:pt x="88" y="54"/>
                  </a:lnTo>
                  <a:lnTo>
                    <a:pt x="77" y="60"/>
                  </a:lnTo>
                  <a:lnTo>
                    <a:pt x="68" y="68"/>
                  </a:lnTo>
                  <a:lnTo>
                    <a:pt x="68" y="68"/>
                  </a:lnTo>
                  <a:lnTo>
                    <a:pt x="61" y="77"/>
                  </a:lnTo>
                  <a:lnTo>
                    <a:pt x="55" y="86"/>
                  </a:lnTo>
                  <a:lnTo>
                    <a:pt x="51" y="99"/>
                  </a:lnTo>
                  <a:lnTo>
                    <a:pt x="50" y="111"/>
                  </a:lnTo>
                  <a:lnTo>
                    <a:pt x="50" y="111"/>
                  </a:lnTo>
                  <a:lnTo>
                    <a:pt x="50" y="111"/>
                  </a:lnTo>
                  <a:lnTo>
                    <a:pt x="51" y="124"/>
                  </a:lnTo>
                  <a:lnTo>
                    <a:pt x="55" y="135"/>
                  </a:lnTo>
                  <a:lnTo>
                    <a:pt x="61" y="146"/>
                  </a:lnTo>
                  <a:lnTo>
                    <a:pt x="68" y="154"/>
                  </a:lnTo>
                  <a:lnTo>
                    <a:pt x="68" y="154"/>
                  </a:lnTo>
                  <a:lnTo>
                    <a:pt x="77" y="162"/>
                  </a:lnTo>
                  <a:lnTo>
                    <a:pt x="88" y="168"/>
                  </a:lnTo>
                  <a:lnTo>
                    <a:pt x="99" y="172"/>
                  </a:lnTo>
                  <a:lnTo>
                    <a:pt x="112" y="173"/>
                  </a:lnTo>
                  <a:lnTo>
                    <a:pt x="192" y="173"/>
                  </a:lnTo>
                  <a:lnTo>
                    <a:pt x="192" y="173"/>
                  </a:lnTo>
                  <a:lnTo>
                    <a:pt x="203" y="172"/>
                  </a:lnTo>
                  <a:lnTo>
                    <a:pt x="213" y="169"/>
                  </a:lnTo>
                  <a:lnTo>
                    <a:pt x="223" y="164"/>
                  </a:lnTo>
                  <a:lnTo>
                    <a:pt x="232" y="158"/>
                  </a:lnTo>
                  <a:lnTo>
                    <a:pt x="292" y="158"/>
                  </a:lnTo>
                  <a:lnTo>
                    <a:pt x="292" y="158"/>
                  </a:lnTo>
                  <a:lnTo>
                    <a:pt x="288" y="167"/>
                  </a:lnTo>
                  <a:lnTo>
                    <a:pt x="282" y="175"/>
                  </a:lnTo>
                  <a:lnTo>
                    <a:pt x="277" y="183"/>
                  </a:lnTo>
                  <a:lnTo>
                    <a:pt x="271" y="189"/>
                  </a:lnTo>
                  <a:lnTo>
                    <a:pt x="271" y="189"/>
                  </a:lnTo>
                  <a:lnTo>
                    <a:pt x="262" y="196"/>
                  </a:lnTo>
                  <a:lnTo>
                    <a:pt x="254" y="203"/>
                  </a:lnTo>
                  <a:lnTo>
                    <a:pt x="245" y="209"/>
                  </a:lnTo>
                  <a:lnTo>
                    <a:pt x="235" y="214"/>
                  </a:lnTo>
                  <a:lnTo>
                    <a:pt x="225" y="217"/>
                  </a:lnTo>
                  <a:lnTo>
                    <a:pt x="214" y="220"/>
                  </a:lnTo>
                  <a:lnTo>
                    <a:pt x="203" y="221"/>
                  </a:lnTo>
                  <a:lnTo>
                    <a:pt x="192" y="222"/>
                  </a:lnTo>
                  <a:lnTo>
                    <a:pt x="112" y="222"/>
                  </a:lnTo>
                  <a:lnTo>
                    <a:pt x="112" y="222"/>
                  </a:lnTo>
                  <a:lnTo>
                    <a:pt x="100" y="221"/>
                  </a:lnTo>
                  <a:lnTo>
                    <a:pt x="89" y="220"/>
                  </a:lnTo>
                  <a:lnTo>
                    <a:pt x="78" y="217"/>
                  </a:lnTo>
                  <a:lnTo>
                    <a:pt x="68" y="214"/>
                  </a:lnTo>
                  <a:lnTo>
                    <a:pt x="58" y="209"/>
                  </a:lnTo>
                  <a:lnTo>
                    <a:pt x="50" y="203"/>
                  </a:lnTo>
                  <a:lnTo>
                    <a:pt x="41" y="196"/>
                  </a:lnTo>
                  <a:lnTo>
                    <a:pt x="34" y="189"/>
                  </a:lnTo>
                  <a:lnTo>
                    <a:pt x="34" y="189"/>
                  </a:lnTo>
                  <a:lnTo>
                    <a:pt x="26" y="182"/>
                  </a:lnTo>
                  <a:lnTo>
                    <a:pt x="20" y="173"/>
                  </a:lnTo>
                  <a:lnTo>
                    <a:pt x="14" y="164"/>
                  </a:lnTo>
                  <a:lnTo>
                    <a:pt x="9" y="154"/>
                  </a:lnTo>
                  <a:lnTo>
                    <a:pt x="5" y="143"/>
                  </a:lnTo>
                  <a:lnTo>
                    <a:pt x="3" y="133"/>
                  </a:lnTo>
                  <a:lnTo>
                    <a:pt x="2" y="122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00"/>
                  </a:lnTo>
                  <a:lnTo>
                    <a:pt x="3" y="89"/>
                  </a:lnTo>
                  <a:lnTo>
                    <a:pt x="5" y="78"/>
                  </a:lnTo>
                  <a:lnTo>
                    <a:pt x="9" y="68"/>
                  </a:lnTo>
                  <a:lnTo>
                    <a:pt x="14" y="58"/>
                  </a:lnTo>
                  <a:lnTo>
                    <a:pt x="20" y="49"/>
                  </a:lnTo>
                  <a:lnTo>
                    <a:pt x="26" y="41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41" y="26"/>
                  </a:lnTo>
                  <a:lnTo>
                    <a:pt x="50" y="18"/>
                  </a:lnTo>
                  <a:lnTo>
                    <a:pt x="58" y="13"/>
                  </a:lnTo>
                  <a:lnTo>
                    <a:pt x="68" y="9"/>
                  </a:lnTo>
                  <a:lnTo>
                    <a:pt x="78" y="5"/>
                  </a:lnTo>
                  <a:lnTo>
                    <a:pt x="89" y="2"/>
                  </a:lnTo>
                  <a:lnTo>
                    <a:pt x="100" y="0"/>
                  </a:lnTo>
                  <a:lnTo>
                    <a:pt x="112" y="0"/>
                  </a:lnTo>
                  <a:lnTo>
                    <a:pt x="11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595959"/>
                </a:solidFill>
              </a:endParaRPr>
            </a:p>
          </p:txBody>
        </p:sp>
        <p:sp>
          <p:nvSpPr>
            <p:cNvPr id="76" name="Freeform 20">
              <a:extLst>
                <a:ext uri="{FF2B5EF4-FFF2-40B4-BE49-F238E27FC236}">
                  <a16:creationId xmlns:a16="http://schemas.microsoft.com/office/drawing/2014/main" id="{BA5B6992-1D49-C5C6-312F-092BBB833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480" y="4357700"/>
              <a:ext cx="230188" cy="177800"/>
            </a:xfrm>
            <a:custGeom>
              <a:avLst/>
              <a:gdLst/>
              <a:ahLst/>
              <a:cxnLst>
                <a:cxn ang="0">
                  <a:pos x="181" y="0"/>
                </a:cxn>
                <a:cxn ang="0">
                  <a:pos x="192" y="0"/>
                </a:cxn>
                <a:cxn ang="0">
                  <a:pos x="213" y="5"/>
                </a:cxn>
                <a:cxn ang="0">
                  <a:pos x="234" y="13"/>
                </a:cxn>
                <a:cxn ang="0">
                  <a:pos x="251" y="26"/>
                </a:cxn>
                <a:cxn ang="0">
                  <a:pos x="258" y="32"/>
                </a:cxn>
                <a:cxn ang="0">
                  <a:pos x="272" y="49"/>
                </a:cxn>
                <a:cxn ang="0">
                  <a:pos x="283" y="68"/>
                </a:cxn>
                <a:cxn ang="0">
                  <a:pos x="289" y="89"/>
                </a:cxn>
                <a:cxn ang="0">
                  <a:pos x="292" y="111"/>
                </a:cxn>
                <a:cxn ang="0">
                  <a:pos x="292" y="111"/>
                </a:cxn>
                <a:cxn ang="0">
                  <a:pos x="289" y="133"/>
                </a:cxn>
                <a:cxn ang="0">
                  <a:pos x="283" y="154"/>
                </a:cxn>
                <a:cxn ang="0">
                  <a:pos x="272" y="173"/>
                </a:cxn>
                <a:cxn ang="0">
                  <a:pos x="258" y="189"/>
                </a:cxn>
                <a:cxn ang="0">
                  <a:pos x="251" y="196"/>
                </a:cxn>
                <a:cxn ang="0">
                  <a:pos x="234" y="209"/>
                </a:cxn>
                <a:cxn ang="0">
                  <a:pos x="213" y="217"/>
                </a:cxn>
                <a:cxn ang="0">
                  <a:pos x="192" y="221"/>
                </a:cxn>
                <a:cxn ang="0">
                  <a:pos x="100" y="222"/>
                </a:cxn>
                <a:cxn ang="0">
                  <a:pos x="89" y="221"/>
                </a:cxn>
                <a:cxn ang="0">
                  <a:pos x="67" y="217"/>
                </a:cxn>
                <a:cxn ang="0">
                  <a:pos x="47" y="209"/>
                </a:cxn>
                <a:cxn ang="0">
                  <a:pos x="30" y="196"/>
                </a:cxn>
                <a:cxn ang="0">
                  <a:pos x="21" y="189"/>
                </a:cxn>
                <a:cxn ang="0">
                  <a:pos x="9" y="175"/>
                </a:cxn>
                <a:cxn ang="0">
                  <a:pos x="0" y="158"/>
                </a:cxn>
                <a:cxn ang="0">
                  <a:pos x="61" y="158"/>
                </a:cxn>
                <a:cxn ang="0">
                  <a:pos x="79" y="169"/>
                </a:cxn>
                <a:cxn ang="0">
                  <a:pos x="100" y="173"/>
                </a:cxn>
                <a:cxn ang="0">
                  <a:pos x="181" y="173"/>
                </a:cxn>
                <a:cxn ang="0">
                  <a:pos x="204" y="168"/>
                </a:cxn>
                <a:cxn ang="0">
                  <a:pos x="224" y="154"/>
                </a:cxn>
                <a:cxn ang="0">
                  <a:pos x="231" y="146"/>
                </a:cxn>
                <a:cxn ang="0">
                  <a:pos x="241" y="124"/>
                </a:cxn>
                <a:cxn ang="0">
                  <a:pos x="242" y="111"/>
                </a:cxn>
                <a:cxn ang="0">
                  <a:pos x="241" y="99"/>
                </a:cxn>
                <a:cxn ang="0">
                  <a:pos x="231" y="77"/>
                </a:cxn>
                <a:cxn ang="0">
                  <a:pos x="224" y="68"/>
                </a:cxn>
                <a:cxn ang="0">
                  <a:pos x="204" y="54"/>
                </a:cxn>
                <a:cxn ang="0">
                  <a:pos x="181" y="49"/>
                </a:cxn>
                <a:cxn ang="0">
                  <a:pos x="100" y="49"/>
                </a:cxn>
                <a:cxn ang="0">
                  <a:pos x="79" y="53"/>
                </a:cxn>
                <a:cxn ang="0">
                  <a:pos x="61" y="63"/>
                </a:cxn>
                <a:cxn ang="0">
                  <a:pos x="0" y="63"/>
                </a:cxn>
                <a:cxn ang="0">
                  <a:pos x="9" y="47"/>
                </a:cxn>
                <a:cxn ang="0">
                  <a:pos x="21" y="32"/>
                </a:cxn>
                <a:cxn ang="0">
                  <a:pos x="30" y="26"/>
                </a:cxn>
                <a:cxn ang="0">
                  <a:pos x="47" y="13"/>
                </a:cxn>
                <a:cxn ang="0">
                  <a:pos x="67" y="5"/>
                </a:cxn>
                <a:cxn ang="0">
                  <a:pos x="89" y="0"/>
                </a:cxn>
                <a:cxn ang="0">
                  <a:pos x="100" y="0"/>
                </a:cxn>
              </a:cxnLst>
              <a:rect l="0" t="0" r="r" b="b"/>
              <a:pathLst>
                <a:path w="292" h="222">
                  <a:moveTo>
                    <a:pt x="100" y="0"/>
                  </a:moveTo>
                  <a:lnTo>
                    <a:pt x="181" y="0"/>
                  </a:lnTo>
                  <a:lnTo>
                    <a:pt x="181" y="0"/>
                  </a:lnTo>
                  <a:lnTo>
                    <a:pt x="192" y="0"/>
                  </a:lnTo>
                  <a:lnTo>
                    <a:pt x="203" y="2"/>
                  </a:lnTo>
                  <a:lnTo>
                    <a:pt x="213" y="5"/>
                  </a:lnTo>
                  <a:lnTo>
                    <a:pt x="224" y="9"/>
                  </a:lnTo>
                  <a:lnTo>
                    <a:pt x="234" y="13"/>
                  </a:lnTo>
                  <a:lnTo>
                    <a:pt x="242" y="18"/>
                  </a:lnTo>
                  <a:lnTo>
                    <a:pt x="251" y="26"/>
                  </a:lnTo>
                  <a:lnTo>
                    <a:pt x="258" y="32"/>
                  </a:lnTo>
                  <a:lnTo>
                    <a:pt x="258" y="32"/>
                  </a:lnTo>
                  <a:lnTo>
                    <a:pt x="266" y="41"/>
                  </a:lnTo>
                  <a:lnTo>
                    <a:pt x="272" y="49"/>
                  </a:lnTo>
                  <a:lnTo>
                    <a:pt x="278" y="58"/>
                  </a:lnTo>
                  <a:lnTo>
                    <a:pt x="283" y="68"/>
                  </a:lnTo>
                  <a:lnTo>
                    <a:pt x="287" y="78"/>
                  </a:lnTo>
                  <a:lnTo>
                    <a:pt x="289" y="89"/>
                  </a:lnTo>
                  <a:lnTo>
                    <a:pt x="291" y="100"/>
                  </a:lnTo>
                  <a:lnTo>
                    <a:pt x="292" y="111"/>
                  </a:lnTo>
                  <a:lnTo>
                    <a:pt x="292" y="111"/>
                  </a:lnTo>
                  <a:lnTo>
                    <a:pt x="292" y="111"/>
                  </a:lnTo>
                  <a:lnTo>
                    <a:pt x="291" y="122"/>
                  </a:lnTo>
                  <a:lnTo>
                    <a:pt x="289" y="133"/>
                  </a:lnTo>
                  <a:lnTo>
                    <a:pt x="287" y="143"/>
                  </a:lnTo>
                  <a:lnTo>
                    <a:pt x="283" y="154"/>
                  </a:lnTo>
                  <a:lnTo>
                    <a:pt x="278" y="164"/>
                  </a:lnTo>
                  <a:lnTo>
                    <a:pt x="272" y="173"/>
                  </a:lnTo>
                  <a:lnTo>
                    <a:pt x="266" y="182"/>
                  </a:lnTo>
                  <a:lnTo>
                    <a:pt x="258" y="189"/>
                  </a:lnTo>
                  <a:lnTo>
                    <a:pt x="258" y="189"/>
                  </a:lnTo>
                  <a:lnTo>
                    <a:pt x="251" y="196"/>
                  </a:lnTo>
                  <a:lnTo>
                    <a:pt x="242" y="203"/>
                  </a:lnTo>
                  <a:lnTo>
                    <a:pt x="234" y="209"/>
                  </a:lnTo>
                  <a:lnTo>
                    <a:pt x="224" y="214"/>
                  </a:lnTo>
                  <a:lnTo>
                    <a:pt x="213" y="217"/>
                  </a:lnTo>
                  <a:lnTo>
                    <a:pt x="203" y="220"/>
                  </a:lnTo>
                  <a:lnTo>
                    <a:pt x="192" y="221"/>
                  </a:lnTo>
                  <a:lnTo>
                    <a:pt x="181" y="222"/>
                  </a:lnTo>
                  <a:lnTo>
                    <a:pt x="100" y="222"/>
                  </a:lnTo>
                  <a:lnTo>
                    <a:pt x="100" y="222"/>
                  </a:lnTo>
                  <a:lnTo>
                    <a:pt x="89" y="221"/>
                  </a:lnTo>
                  <a:lnTo>
                    <a:pt x="78" y="220"/>
                  </a:lnTo>
                  <a:lnTo>
                    <a:pt x="67" y="217"/>
                  </a:lnTo>
                  <a:lnTo>
                    <a:pt x="57" y="214"/>
                  </a:lnTo>
                  <a:lnTo>
                    <a:pt x="47" y="209"/>
                  </a:lnTo>
                  <a:lnTo>
                    <a:pt x="38" y="203"/>
                  </a:lnTo>
                  <a:lnTo>
                    <a:pt x="30" y="196"/>
                  </a:lnTo>
                  <a:lnTo>
                    <a:pt x="21" y="189"/>
                  </a:lnTo>
                  <a:lnTo>
                    <a:pt x="21" y="189"/>
                  </a:lnTo>
                  <a:lnTo>
                    <a:pt x="15" y="183"/>
                  </a:lnTo>
                  <a:lnTo>
                    <a:pt x="9" y="175"/>
                  </a:lnTo>
                  <a:lnTo>
                    <a:pt x="4" y="167"/>
                  </a:lnTo>
                  <a:lnTo>
                    <a:pt x="0" y="158"/>
                  </a:lnTo>
                  <a:lnTo>
                    <a:pt x="61" y="158"/>
                  </a:lnTo>
                  <a:lnTo>
                    <a:pt x="61" y="158"/>
                  </a:lnTo>
                  <a:lnTo>
                    <a:pt x="69" y="164"/>
                  </a:lnTo>
                  <a:lnTo>
                    <a:pt x="79" y="169"/>
                  </a:lnTo>
                  <a:lnTo>
                    <a:pt x="89" y="172"/>
                  </a:lnTo>
                  <a:lnTo>
                    <a:pt x="100" y="173"/>
                  </a:lnTo>
                  <a:lnTo>
                    <a:pt x="181" y="173"/>
                  </a:lnTo>
                  <a:lnTo>
                    <a:pt x="181" y="173"/>
                  </a:lnTo>
                  <a:lnTo>
                    <a:pt x="193" y="172"/>
                  </a:lnTo>
                  <a:lnTo>
                    <a:pt x="204" y="168"/>
                  </a:lnTo>
                  <a:lnTo>
                    <a:pt x="215" y="162"/>
                  </a:lnTo>
                  <a:lnTo>
                    <a:pt x="224" y="154"/>
                  </a:lnTo>
                  <a:lnTo>
                    <a:pt x="224" y="154"/>
                  </a:lnTo>
                  <a:lnTo>
                    <a:pt x="231" y="146"/>
                  </a:lnTo>
                  <a:lnTo>
                    <a:pt x="237" y="135"/>
                  </a:lnTo>
                  <a:lnTo>
                    <a:pt x="241" y="124"/>
                  </a:lnTo>
                  <a:lnTo>
                    <a:pt x="242" y="111"/>
                  </a:lnTo>
                  <a:lnTo>
                    <a:pt x="242" y="111"/>
                  </a:lnTo>
                  <a:lnTo>
                    <a:pt x="242" y="111"/>
                  </a:lnTo>
                  <a:lnTo>
                    <a:pt x="241" y="99"/>
                  </a:lnTo>
                  <a:lnTo>
                    <a:pt x="237" y="86"/>
                  </a:lnTo>
                  <a:lnTo>
                    <a:pt x="231" y="77"/>
                  </a:lnTo>
                  <a:lnTo>
                    <a:pt x="224" y="68"/>
                  </a:lnTo>
                  <a:lnTo>
                    <a:pt x="224" y="68"/>
                  </a:lnTo>
                  <a:lnTo>
                    <a:pt x="215" y="60"/>
                  </a:lnTo>
                  <a:lnTo>
                    <a:pt x="204" y="54"/>
                  </a:lnTo>
                  <a:lnTo>
                    <a:pt x="193" y="51"/>
                  </a:lnTo>
                  <a:lnTo>
                    <a:pt x="181" y="49"/>
                  </a:lnTo>
                  <a:lnTo>
                    <a:pt x="100" y="49"/>
                  </a:lnTo>
                  <a:lnTo>
                    <a:pt x="100" y="49"/>
                  </a:lnTo>
                  <a:lnTo>
                    <a:pt x="89" y="51"/>
                  </a:lnTo>
                  <a:lnTo>
                    <a:pt x="79" y="53"/>
                  </a:lnTo>
                  <a:lnTo>
                    <a:pt x="69" y="58"/>
                  </a:lnTo>
                  <a:lnTo>
                    <a:pt x="61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56"/>
                  </a:lnTo>
                  <a:lnTo>
                    <a:pt x="9" y="47"/>
                  </a:lnTo>
                  <a:lnTo>
                    <a:pt x="15" y="39"/>
                  </a:lnTo>
                  <a:lnTo>
                    <a:pt x="21" y="32"/>
                  </a:lnTo>
                  <a:lnTo>
                    <a:pt x="21" y="32"/>
                  </a:lnTo>
                  <a:lnTo>
                    <a:pt x="30" y="26"/>
                  </a:lnTo>
                  <a:lnTo>
                    <a:pt x="38" y="18"/>
                  </a:lnTo>
                  <a:lnTo>
                    <a:pt x="47" y="13"/>
                  </a:lnTo>
                  <a:lnTo>
                    <a:pt x="57" y="9"/>
                  </a:lnTo>
                  <a:lnTo>
                    <a:pt x="67" y="5"/>
                  </a:lnTo>
                  <a:lnTo>
                    <a:pt x="78" y="2"/>
                  </a:lnTo>
                  <a:lnTo>
                    <a:pt x="89" y="0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595959"/>
                </a:solidFill>
              </a:endParaRPr>
            </a:p>
          </p:txBody>
        </p:sp>
        <p:sp>
          <p:nvSpPr>
            <p:cNvPr id="77" name="Freeform 21">
              <a:extLst>
                <a:ext uri="{FF2B5EF4-FFF2-40B4-BE49-F238E27FC236}">
                  <a16:creationId xmlns:a16="http://schemas.microsoft.com/office/drawing/2014/main" id="{C81D155A-3A89-0049-9EC9-DE3B20594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767" y="4427550"/>
              <a:ext cx="195263" cy="36513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224" y="0"/>
                </a:cxn>
                <a:cxn ang="0">
                  <a:pos x="224" y="0"/>
                </a:cxn>
                <a:cxn ang="0">
                  <a:pos x="229" y="1"/>
                </a:cxn>
                <a:cxn ang="0">
                  <a:pos x="233" y="2"/>
                </a:cxn>
                <a:cxn ang="0">
                  <a:pos x="236" y="5"/>
                </a:cxn>
                <a:cxn ang="0">
                  <a:pos x="240" y="7"/>
                </a:cxn>
                <a:cxn ang="0">
                  <a:pos x="242" y="11"/>
                </a:cxn>
                <a:cxn ang="0">
                  <a:pos x="245" y="14"/>
                </a:cxn>
                <a:cxn ang="0">
                  <a:pos x="246" y="18"/>
                </a:cxn>
                <a:cxn ang="0">
                  <a:pos x="246" y="23"/>
                </a:cxn>
                <a:cxn ang="0">
                  <a:pos x="246" y="23"/>
                </a:cxn>
                <a:cxn ang="0">
                  <a:pos x="246" y="23"/>
                </a:cxn>
                <a:cxn ang="0">
                  <a:pos x="246" y="28"/>
                </a:cxn>
                <a:cxn ang="0">
                  <a:pos x="245" y="32"/>
                </a:cxn>
                <a:cxn ang="0">
                  <a:pos x="242" y="36"/>
                </a:cxn>
                <a:cxn ang="0">
                  <a:pos x="240" y="39"/>
                </a:cxn>
                <a:cxn ang="0">
                  <a:pos x="236" y="42"/>
                </a:cxn>
                <a:cxn ang="0">
                  <a:pos x="233" y="44"/>
                </a:cxn>
                <a:cxn ang="0">
                  <a:pos x="229" y="45"/>
                </a:cxn>
                <a:cxn ang="0">
                  <a:pos x="224" y="45"/>
                </a:cxn>
                <a:cxn ang="0">
                  <a:pos x="24" y="45"/>
                </a:cxn>
                <a:cxn ang="0">
                  <a:pos x="24" y="45"/>
                </a:cxn>
                <a:cxn ang="0">
                  <a:pos x="19" y="45"/>
                </a:cxn>
                <a:cxn ang="0">
                  <a:pos x="14" y="44"/>
                </a:cxn>
                <a:cxn ang="0">
                  <a:pos x="10" y="42"/>
                </a:cxn>
                <a:cxn ang="0">
                  <a:pos x="6" y="39"/>
                </a:cxn>
                <a:cxn ang="0">
                  <a:pos x="4" y="36"/>
                </a:cxn>
                <a:cxn ang="0">
                  <a:pos x="3" y="32"/>
                </a:cxn>
                <a:cxn ang="0">
                  <a:pos x="0" y="28"/>
                </a:cxn>
                <a:cxn ang="0">
                  <a:pos x="0" y="23"/>
                </a:cxn>
                <a:cxn ang="0">
                  <a:pos x="0" y="23"/>
                </a:cxn>
                <a:cxn ang="0">
                  <a:pos x="0" y="23"/>
                </a:cxn>
                <a:cxn ang="0">
                  <a:pos x="0" y="18"/>
                </a:cxn>
                <a:cxn ang="0">
                  <a:pos x="3" y="14"/>
                </a:cxn>
                <a:cxn ang="0">
                  <a:pos x="4" y="11"/>
                </a:cxn>
                <a:cxn ang="0">
                  <a:pos x="6" y="7"/>
                </a:cxn>
                <a:cxn ang="0">
                  <a:pos x="10" y="5"/>
                </a:cxn>
                <a:cxn ang="0">
                  <a:pos x="14" y="2"/>
                </a:cxn>
                <a:cxn ang="0">
                  <a:pos x="19" y="1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6" h="45">
                  <a:moveTo>
                    <a:pt x="24" y="0"/>
                  </a:moveTo>
                  <a:lnTo>
                    <a:pt x="224" y="0"/>
                  </a:lnTo>
                  <a:lnTo>
                    <a:pt x="224" y="0"/>
                  </a:lnTo>
                  <a:lnTo>
                    <a:pt x="229" y="1"/>
                  </a:lnTo>
                  <a:lnTo>
                    <a:pt x="233" y="2"/>
                  </a:lnTo>
                  <a:lnTo>
                    <a:pt x="236" y="5"/>
                  </a:lnTo>
                  <a:lnTo>
                    <a:pt x="240" y="7"/>
                  </a:lnTo>
                  <a:lnTo>
                    <a:pt x="242" y="11"/>
                  </a:lnTo>
                  <a:lnTo>
                    <a:pt x="245" y="14"/>
                  </a:lnTo>
                  <a:lnTo>
                    <a:pt x="246" y="18"/>
                  </a:lnTo>
                  <a:lnTo>
                    <a:pt x="246" y="23"/>
                  </a:lnTo>
                  <a:lnTo>
                    <a:pt x="246" y="23"/>
                  </a:lnTo>
                  <a:lnTo>
                    <a:pt x="246" y="23"/>
                  </a:lnTo>
                  <a:lnTo>
                    <a:pt x="246" y="28"/>
                  </a:lnTo>
                  <a:lnTo>
                    <a:pt x="245" y="32"/>
                  </a:lnTo>
                  <a:lnTo>
                    <a:pt x="242" y="36"/>
                  </a:lnTo>
                  <a:lnTo>
                    <a:pt x="240" y="39"/>
                  </a:lnTo>
                  <a:lnTo>
                    <a:pt x="236" y="42"/>
                  </a:lnTo>
                  <a:lnTo>
                    <a:pt x="233" y="44"/>
                  </a:lnTo>
                  <a:lnTo>
                    <a:pt x="229" y="45"/>
                  </a:lnTo>
                  <a:lnTo>
                    <a:pt x="224" y="45"/>
                  </a:lnTo>
                  <a:lnTo>
                    <a:pt x="24" y="45"/>
                  </a:lnTo>
                  <a:lnTo>
                    <a:pt x="24" y="45"/>
                  </a:lnTo>
                  <a:lnTo>
                    <a:pt x="19" y="45"/>
                  </a:lnTo>
                  <a:lnTo>
                    <a:pt x="14" y="44"/>
                  </a:lnTo>
                  <a:lnTo>
                    <a:pt x="10" y="42"/>
                  </a:lnTo>
                  <a:lnTo>
                    <a:pt x="6" y="39"/>
                  </a:lnTo>
                  <a:lnTo>
                    <a:pt x="4" y="36"/>
                  </a:lnTo>
                  <a:lnTo>
                    <a:pt x="3" y="32"/>
                  </a:lnTo>
                  <a:lnTo>
                    <a:pt x="0" y="28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18"/>
                  </a:lnTo>
                  <a:lnTo>
                    <a:pt x="3" y="14"/>
                  </a:lnTo>
                  <a:lnTo>
                    <a:pt x="4" y="11"/>
                  </a:lnTo>
                  <a:lnTo>
                    <a:pt x="6" y="7"/>
                  </a:lnTo>
                  <a:lnTo>
                    <a:pt x="10" y="5"/>
                  </a:lnTo>
                  <a:lnTo>
                    <a:pt x="14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595959"/>
                </a:solidFill>
              </a:endParaRPr>
            </a:p>
          </p:txBody>
        </p:sp>
      </p:grpSp>
      <p:sp>
        <p:nvSpPr>
          <p:cNvPr id="78" name="矩形 6">
            <a:extLst>
              <a:ext uri="{FF2B5EF4-FFF2-40B4-BE49-F238E27FC236}">
                <a16:creationId xmlns:a16="http://schemas.microsoft.com/office/drawing/2014/main" id="{DF57B81D-5FFB-6A22-15BF-E273FD1AE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694" y="2468076"/>
            <a:ext cx="2481799" cy="1499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它通过学习特征的权重来拟合一个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Sigmoid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函数，以预测事故为“类别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（轻微）的概率。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6DC87B3-36BC-89E9-58E0-718EE97AF7C7}"/>
              </a:ext>
            </a:extLst>
          </p:cNvPr>
          <p:cNvSpPr/>
          <p:nvPr/>
        </p:nvSpPr>
        <p:spPr>
          <a:xfrm>
            <a:off x="1663694" y="2002988"/>
            <a:ext cx="2481799" cy="460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Logistic Regression</a:t>
            </a:r>
          </a:p>
        </p:txBody>
      </p:sp>
      <p:sp>
        <p:nvSpPr>
          <p:cNvPr id="80" name="矩形 6">
            <a:extLst>
              <a:ext uri="{FF2B5EF4-FFF2-40B4-BE49-F238E27FC236}">
                <a16:creationId xmlns:a16="http://schemas.microsoft.com/office/drawing/2014/main" id="{9FE1281A-884A-9084-F1D6-EB8BE3583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5029" y="2468076"/>
            <a:ext cx="2287669" cy="149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构建了一系列“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If-Then”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规则，将数据进行分割。模型结果易于可视化和解释。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34AEE42-AC96-A3E9-7ABD-64C9D77DE5F6}"/>
              </a:ext>
            </a:extLst>
          </p:cNvPr>
          <p:cNvSpPr/>
          <p:nvPr/>
        </p:nvSpPr>
        <p:spPr>
          <a:xfrm>
            <a:off x="4807445" y="1959176"/>
            <a:ext cx="2898251" cy="460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Decision Tree Classifier</a:t>
            </a:r>
          </a:p>
        </p:txBody>
      </p:sp>
      <p:sp>
        <p:nvSpPr>
          <p:cNvPr id="82" name="矩形 6">
            <a:extLst>
              <a:ext uri="{FF2B5EF4-FFF2-40B4-BE49-F238E27FC236}">
                <a16:creationId xmlns:a16="http://schemas.microsoft.com/office/drawing/2014/main" id="{989EB028-19BF-CAFF-00F1-9ED4EF712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133" y="2468076"/>
            <a:ext cx="2308840" cy="149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通过计算一个新数据点与其最近的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个邻居的“多数票”来进行分类。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9ABD6AC-4169-D8B1-9E35-7F420B5B040D}"/>
              </a:ext>
            </a:extLst>
          </p:cNvPr>
          <p:cNvSpPr/>
          <p:nvPr/>
        </p:nvSpPr>
        <p:spPr>
          <a:xfrm>
            <a:off x="8050463" y="1982581"/>
            <a:ext cx="2651552" cy="460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K-Neighbors Classifier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61AE50-EE16-3432-7D70-DB0ABED87A2E}"/>
              </a:ext>
            </a:extLst>
          </p:cNvPr>
          <p:cNvSpPr txBox="1"/>
          <p:nvPr/>
        </p:nvSpPr>
        <p:spPr>
          <a:xfrm>
            <a:off x="5059498" y="435006"/>
            <a:ext cx="15987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rgbClr val="F3F3F3"/>
                </a:solidFill>
              </a:rPr>
              <a:t>https://www.ypppt.com/</a:t>
            </a:r>
            <a:endParaRPr lang="zh-CN" altLang="en-US" sz="1050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30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B0EB-1041-EB06-6BF6-0B230A34A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2">
            <a:extLst>
              <a:ext uri="{FF2B5EF4-FFF2-40B4-BE49-F238E27FC236}">
                <a16:creationId xmlns:a16="http://schemas.microsoft.com/office/drawing/2014/main" id="{E8D1514C-7039-ABD1-C080-7022A9998F6B}"/>
              </a:ext>
            </a:extLst>
          </p:cNvPr>
          <p:cNvSpPr>
            <a:spLocks/>
          </p:cNvSpPr>
          <p:nvPr/>
        </p:nvSpPr>
        <p:spPr bwMode="auto">
          <a:xfrm>
            <a:off x="6109012" y="3580226"/>
            <a:ext cx="1889740" cy="1897992"/>
          </a:xfrm>
          <a:custGeom>
            <a:avLst/>
            <a:gdLst>
              <a:gd name="T0" fmla="*/ 0 w 2320"/>
              <a:gd name="T1" fmla="*/ 1620 h 2320"/>
              <a:gd name="T2" fmla="*/ 700 w 2320"/>
              <a:gd name="T3" fmla="*/ 2320 h 2320"/>
              <a:gd name="T4" fmla="*/ 2320 w 2320"/>
              <a:gd name="T5" fmla="*/ 2320 h 2320"/>
              <a:gd name="T6" fmla="*/ 2320 w 2320"/>
              <a:gd name="T7" fmla="*/ 700 h 2320"/>
              <a:gd name="T8" fmla="*/ 1620 w 2320"/>
              <a:gd name="T9" fmla="*/ 0 h 2320"/>
              <a:gd name="T10" fmla="*/ 0 w 2320"/>
              <a:gd name="T11" fmla="*/ 0 h 2320"/>
              <a:gd name="T12" fmla="*/ 0 w 2320"/>
              <a:gd name="T13" fmla="*/ 162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0" h="2320">
                <a:moveTo>
                  <a:pt x="0" y="1620"/>
                </a:moveTo>
                <a:cubicBezTo>
                  <a:pt x="0" y="2005"/>
                  <a:pt x="315" y="2320"/>
                  <a:pt x="700" y="2320"/>
                </a:cubicBezTo>
                <a:cubicBezTo>
                  <a:pt x="1240" y="2320"/>
                  <a:pt x="1780" y="2320"/>
                  <a:pt x="2320" y="2320"/>
                </a:cubicBezTo>
                <a:cubicBezTo>
                  <a:pt x="2320" y="1780"/>
                  <a:pt x="2320" y="1240"/>
                  <a:pt x="2320" y="700"/>
                </a:cubicBezTo>
                <a:cubicBezTo>
                  <a:pt x="2320" y="315"/>
                  <a:pt x="2005" y="0"/>
                  <a:pt x="1620" y="0"/>
                </a:cubicBezTo>
                <a:cubicBezTo>
                  <a:pt x="1080" y="0"/>
                  <a:pt x="540" y="0"/>
                  <a:pt x="0" y="0"/>
                </a:cubicBezTo>
                <a:lnTo>
                  <a:pt x="0" y="162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 dirty="0"/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E368AEEF-99FB-32DE-98D5-754E029495FD}"/>
              </a:ext>
            </a:extLst>
          </p:cNvPr>
          <p:cNvSpPr>
            <a:spLocks/>
          </p:cNvSpPr>
          <p:nvPr/>
        </p:nvSpPr>
        <p:spPr bwMode="auto">
          <a:xfrm>
            <a:off x="4100483" y="3580226"/>
            <a:ext cx="1889740" cy="1897992"/>
          </a:xfrm>
          <a:custGeom>
            <a:avLst/>
            <a:gdLst>
              <a:gd name="T0" fmla="*/ 2320 w 2320"/>
              <a:gd name="T1" fmla="*/ 1620 h 2320"/>
              <a:gd name="T2" fmla="*/ 1620 w 2320"/>
              <a:gd name="T3" fmla="*/ 2320 h 2320"/>
              <a:gd name="T4" fmla="*/ 0 w 2320"/>
              <a:gd name="T5" fmla="*/ 2320 h 2320"/>
              <a:gd name="T6" fmla="*/ 0 w 2320"/>
              <a:gd name="T7" fmla="*/ 700 h 2320"/>
              <a:gd name="T8" fmla="*/ 700 w 2320"/>
              <a:gd name="T9" fmla="*/ 0 h 2320"/>
              <a:gd name="T10" fmla="*/ 2320 w 2320"/>
              <a:gd name="T11" fmla="*/ 0 h 2320"/>
              <a:gd name="T12" fmla="*/ 2320 w 2320"/>
              <a:gd name="T13" fmla="*/ 162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0" h="2320">
                <a:moveTo>
                  <a:pt x="2320" y="1620"/>
                </a:moveTo>
                <a:cubicBezTo>
                  <a:pt x="2320" y="2005"/>
                  <a:pt x="2005" y="2320"/>
                  <a:pt x="1620" y="2320"/>
                </a:cubicBezTo>
                <a:cubicBezTo>
                  <a:pt x="1080" y="2320"/>
                  <a:pt x="540" y="2320"/>
                  <a:pt x="0" y="2320"/>
                </a:cubicBezTo>
                <a:cubicBezTo>
                  <a:pt x="0" y="1780"/>
                  <a:pt x="0" y="1240"/>
                  <a:pt x="0" y="700"/>
                </a:cubicBezTo>
                <a:cubicBezTo>
                  <a:pt x="0" y="315"/>
                  <a:pt x="315" y="0"/>
                  <a:pt x="700" y="0"/>
                </a:cubicBezTo>
                <a:cubicBezTo>
                  <a:pt x="1240" y="0"/>
                  <a:pt x="1780" y="0"/>
                  <a:pt x="2320" y="0"/>
                </a:cubicBezTo>
                <a:lnTo>
                  <a:pt x="2320" y="162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6FA53544-26CD-B0B1-212F-C553678FA7B6}"/>
              </a:ext>
            </a:extLst>
          </p:cNvPr>
          <p:cNvSpPr>
            <a:spLocks/>
          </p:cNvSpPr>
          <p:nvPr/>
        </p:nvSpPr>
        <p:spPr bwMode="auto">
          <a:xfrm>
            <a:off x="6109012" y="1571283"/>
            <a:ext cx="1889740" cy="1893868"/>
          </a:xfrm>
          <a:custGeom>
            <a:avLst/>
            <a:gdLst>
              <a:gd name="T0" fmla="*/ 0 w 2320"/>
              <a:gd name="T1" fmla="*/ 700 h 2320"/>
              <a:gd name="T2" fmla="*/ 700 w 2320"/>
              <a:gd name="T3" fmla="*/ 0 h 2320"/>
              <a:gd name="T4" fmla="*/ 2320 w 2320"/>
              <a:gd name="T5" fmla="*/ 0 h 2320"/>
              <a:gd name="T6" fmla="*/ 2320 w 2320"/>
              <a:gd name="T7" fmla="*/ 1620 h 2320"/>
              <a:gd name="T8" fmla="*/ 1620 w 2320"/>
              <a:gd name="T9" fmla="*/ 2320 h 2320"/>
              <a:gd name="T10" fmla="*/ 0 w 2320"/>
              <a:gd name="T11" fmla="*/ 2320 h 2320"/>
              <a:gd name="T12" fmla="*/ 0 w 2320"/>
              <a:gd name="T13" fmla="*/ 70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0" h="2320">
                <a:moveTo>
                  <a:pt x="0" y="700"/>
                </a:moveTo>
                <a:cubicBezTo>
                  <a:pt x="0" y="315"/>
                  <a:pt x="315" y="0"/>
                  <a:pt x="700" y="0"/>
                </a:cubicBezTo>
                <a:cubicBezTo>
                  <a:pt x="1240" y="0"/>
                  <a:pt x="1780" y="0"/>
                  <a:pt x="2320" y="0"/>
                </a:cubicBezTo>
                <a:cubicBezTo>
                  <a:pt x="2320" y="540"/>
                  <a:pt x="2320" y="1080"/>
                  <a:pt x="2320" y="1620"/>
                </a:cubicBezTo>
                <a:cubicBezTo>
                  <a:pt x="2320" y="2005"/>
                  <a:pt x="2005" y="2320"/>
                  <a:pt x="1620" y="2320"/>
                </a:cubicBezTo>
                <a:cubicBezTo>
                  <a:pt x="1080" y="2320"/>
                  <a:pt x="540" y="2320"/>
                  <a:pt x="0" y="2320"/>
                </a:cubicBezTo>
                <a:lnTo>
                  <a:pt x="0" y="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67D98B64-7C2F-E671-CCB9-FFA1265BC361}"/>
              </a:ext>
            </a:extLst>
          </p:cNvPr>
          <p:cNvSpPr>
            <a:spLocks/>
          </p:cNvSpPr>
          <p:nvPr/>
        </p:nvSpPr>
        <p:spPr bwMode="auto">
          <a:xfrm>
            <a:off x="4100483" y="1571283"/>
            <a:ext cx="1889740" cy="1893868"/>
          </a:xfrm>
          <a:custGeom>
            <a:avLst/>
            <a:gdLst>
              <a:gd name="T0" fmla="*/ 2320 w 2320"/>
              <a:gd name="T1" fmla="*/ 700 h 2320"/>
              <a:gd name="T2" fmla="*/ 1620 w 2320"/>
              <a:gd name="T3" fmla="*/ 0 h 2320"/>
              <a:gd name="T4" fmla="*/ 0 w 2320"/>
              <a:gd name="T5" fmla="*/ 0 h 2320"/>
              <a:gd name="T6" fmla="*/ 0 w 2320"/>
              <a:gd name="T7" fmla="*/ 1620 h 2320"/>
              <a:gd name="T8" fmla="*/ 700 w 2320"/>
              <a:gd name="T9" fmla="*/ 2320 h 2320"/>
              <a:gd name="T10" fmla="*/ 2320 w 2320"/>
              <a:gd name="T11" fmla="*/ 2320 h 2320"/>
              <a:gd name="T12" fmla="*/ 2320 w 2320"/>
              <a:gd name="T13" fmla="*/ 70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0" h="2320">
                <a:moveTo>
                  <a:pt x="2320" y="700"/>
                </a:moveTo>
                <a:cubicBezTo>
                  <a:pt x="2320" y="315"/>
                  <a:pt x="2005" y="0"/>
                  <a:pt x="1620" y="0"/>
                </a:cubicBezTo>
                <a:cubicBezTo>
                  <a:pt x="1080" y="0"/>
                  <a:pt x="540" y="0"/>
                  <a:pt x="0" y="0"/>
                </a:cubicBezTo>
                <a:cubicBezTo>
                  <a:pt x="0" y="540"/>
                  <a:pt x="0" y="1080"/>
                  <a:pt x="0" y="1620"/>
                </a:cubicBezTo>
                <a:cubicBezTo>
                  <a:pt x="0" y="2005"/>
                  <a:pt x="315" y="2320"/>
                  <a:pt x="700" y="2320"/>
                </a:cubicBezTo>
                <a:cubicBezTo>
                  <a:pt x="1240" y="2320"/>
                  <a:pt x="1780" y="2320"/>
                  <a:pt x="2320" y="2320"/>
                </a:cubicBezTo>
                <a:lnTo>
                  <a:pt x="2320" y="7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C6D2478A-D1BF-9E0A-095E-5FF3154A7131}"/>
              </a:ext>
            </a:extLst>
          </p:cNvPr>
          <p:cNvSpPr>
            <a:spLocks/>
          </p:cNvSpPr>
          <p:nvPr/>
        </p:nvSpPr>
        <p:spPr bwMode="auto">
          <a:xfrm>
            <a:off x="5536355" y="3007155"/>
            <a:ext cx="453868" cy="457996"/>
          </a:xfrm>
          <a:custGeom>
            <a:avLst/>
            <a:gdLst>
              <a:gd name="T0" fmla="*/ 560 w 560"/>
              <a:gd name="T1" fmla="*/ 559 h 559"/>
              <a:gd name="T2" fmla="*/ 0 w 560"/>
              <a:gd name="T3" fmla="*/ 559 h 559"/>
              <a:gd name="T4" fmla="*/ 560 w 560"/>
              <a:gd name="T5" fmla="*/ 0 h 559"/>
              <a:gd name="T6" fmla="*/ 560 w 560"/>
              <a:gd name="T7" fmla="*/ 559 h 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0" h="559">
                <a:moveTo>
                  <a:pt x="560" y="559"/>
                </a:moveTo>
                <a:lnTo>
                  <a:pt x="0" y="559"/>
                </a:lnTo>
                <a:cubicBezTo>
                  <a:pt x="0" y="250"/>
                  <a:pt x="251" y="0"/>
                  <a:pt x="560" y="0"/>
                </a:cubicBezTo>
                <a:lnTo>
                  <a:pt x="560" y="5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algn="r"/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83168D51-CE86-1111-7CCA-DCB03558FBB9}"/>
              </a:ext>
            </a:extLst>
          </p:cNvPr>
          <p:cNvSpPr>
            <a:spLocks/>
          </p:cNvSpPr>
          <p:nvPr/>
        </p:nvSpPr>
        <p:spPr bwMode="auto">
          <a:xfrm>
            <a:off x="6109011" y="3007155"/>
            <a:ext cx="453868" cy="457996"/>
          </a:xfrm>
          <a:custGeom>
            <a:avLst/>
            <a:gdLst>
              <a:gd name="T0" fmla="*/ 0 w 559"/>
              <a:gd name="T1" fmla="*/ 559 h 559"/>
              <a:gd name="T2" fmla="*/ 559 w 559"/>
              <a:gd name="T3" fmla="*/ 559 h 559"/>
              <a:gd name="T4" fmla="*/ 0 w 559"/>
              <a:gd name="T5" fmla="*/ 0 h 559"/>
              <a:gd name="T6" fmla="*/ 0 w 559"/>
              <a:gd name="T7" fmla="*/ 559 h 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59" h="559">
                <a:moveTo>
                  <a:pt x="0" y="559"/>
                </a:moveTo>
                <a:lnTo>
                  <a:pt x="559" y="559"/>
                </a:lnTo>
                <a:cubicBezTo>
                  <a:pt x="559" y="250"/>
                  <a:pt x="309" y="0"/>
                  <a:pt x="0" y="0"/>
                </a:cubicBezTo>
                <a:lnTo>
                  <a:pt x="0" y="55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/>
          </a:p>
        </p:txBody>
      </p:sp>
      <p:sp>
        <p:nvSpPr>
          <p:cNvPr id="9" name="Freeform 18">
            <a:extLst>
              <a:ext uri="{FF2B5EF4-FFF2-40B4-BE49-F238E27FC236}">
                <a16:creationId xmlns:a16="http://schemas.microsoft.com/office/drawing/2014/main" id="{2191C2BB-4F27-587C-A0B9-D22A24671DB5}"/>
              </a:ext>
            </a:extLst>
          </p:cNvPr>
          <p:cNvSpPr>
            <a:spLocks/>
          </p:cNvSpPr>
          <p:nvPr/>
        </p:nvSpPr>
        <p:spPr bwMode="auto">
          <a:xfrm>
            <a:off x="5536355" y="3580227"/>
            <a:ext cx="453868" cy="457996"/>
          </a:xfrm>
          <a:custGeom>
            <a:avLst/>
            <a:gdLst>
              <a:gd name="T0" fmla="*/ 560 w 560"/>
              <a:gd name="T1" fmla="*/ 0 h 560"/>
              <a:gd name="T2" fmla="*/ 0 w 560"/>
              <a:gd name="T3" fmla="*/ 0 h 560"/>
              <a:gd name="T4" fmla="*/ 560 w 560"/>
              <a:gd name="T5" fmla="*/ 560 h 560"/>
              <a:gd name="T6" fmla="*/ 560 w 560"/>
              <a:gd name="T7" fmla="*/ 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0" h="560">
                <a:moveTo>
                  <a:pt x="560" y="0"/>
                </a:moveTo>
                <a:lnTo>
                  <a:pt x="0" y="0"/>
                </a:lnTo>
                <a:cubicBezTo>
                  <a:pt x="0" y="309"/>
                  <a:pt x="251" y="560"/>
                  <a:pt x="560" y="560"/>
                </a:cubicBezTo>
                <a:lnTo>
                  <a:pt x="56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/>
          </a:p>
        </p:txBody>
      </p:sp>
      <p:sp>
        <p:nvSpPr>
          <p:cNvPr id="10" name="Freeform 19">
            <a:extLst>
              <a:ext uri="{FF2B5EF4-FFF2-40B4-BE49-F238E27FC236}">
                <a16:creationId xmlns:a16="http://schemas.microsoft.com/office/drawing/2014/main" id="{B85B246F-C3EE-E3A5-7F2A-53DF365D0785}"/>
              </a:ext>
            </a:extLst>
          </p:cNvPr>
          <p:cNvSpPr>
            <a:spLocks/>
          </p:cNvSpPr>
          <p:nvPr/>
        </p:nvSpPr>
        <p:spPr bwMode="auto">
          <a:xfrm>
            <a:off x="6109011" y="3580227"/>
            <a:ext cx="453868" cy="457996"/>
          </a:xfrm>
          <a:custGeom>
            <a:avLst/>
            <a:gdLst>
              <a:gd name="T0" fmla="*/ 0 w 559"/>
              <a:gd name="T1" fmla="*/ 0 h 560"/>
              <a:gd name="T2" fmla="*/ 559 w 559"/>
              <a:gd name="T3" fmla="*/ 0 h 560"/>
              <a:gd name="T4" fmla="*/ 0 w 559"/>
              <a:gd name="T5" fmla="*/ 560 h 560"/>
              <a:gd name="T6" fmla="*/ 0 w 559"/>
              <a:gd name="T7" fmla="*/ 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59" h="560">
                <a:moveTo>
                  <a:pt x="0" y="0"/>
                </a:moveTo>
                <a:lnTo>
                  <a:pt x="559" y="0"/>
                </a:lnTo>
                <a:cubicBezTo>
                  <a:pt x="559" y="309"/>
                  <a:pt x="309" y="560"/>
                  <a:pt x="0" y="56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8570A9-D5CC-BA9E-49C7-C6CA161663F6}"/>
              </a:ext>
            </a:extLst>
          </p:cNvPr>
          <p:cNvSpPr/>
          <p:nvPr/>
        </p:nvSpPr>
        <p:spPr>
          <a:xfrm>
            <a:off x="5751278" y="3130819"/>
            <a:ext cx="156791" cy="287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altLang="zh-CN" sz="1867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867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E992BF-289B-E66D-978D-4A0AB4BDE109}"/>
              </a:ext>
            </a:extLst>
          </p:cNvPr>
          <p:cNvSpPr/>
          <p:nvPr/>
        </p:nvSpPr>
        <p:spPr>
          <a:xfrm>
            <a:off x="6179794" y="3130819"/>
            <a:ext cx="156791" cy="287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altLang="zh-CN" sz="1867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867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486FE2-71DB-9720-D289-80713F78CD59}"/>
              </a:ext>
            </a:extLst>
          </p:cNvPr>
          <p:cNvSpPr/>
          <p:nvPr/>
        </p:nvSpPr>
        <p:spPr>
          <a:xfrm>
            <a:off x="5751276" y="3603209"/>
            <a:ext cx="156792" cy="287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altLang="zh-CN" sz="1867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867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4CE218-8650-0AD3-0818-04FC47E491D9}"/>
              </a:ext>
            </a:extLst>
          </p:cNvPr>
          <p:cNvSpPr/>
          <p:nvPr/>
        </p:nvSpPr>
        <p:spPr>
          <a:xfrm>
            <a:off x="6179794" y="3603210"/>
            <a:ext cx="156791" cy="287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altLang="zh-CN" sz="1867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867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337CB-7352-0F57-E547-9C4EDCFF9266}"/>
              </a:ext>
            </a:extLst>
          </p:cNvPr>
          <p:cNvSpPr txBox="1"/>
          <p:nvPr/>
        </p:nvSpPr>
        <p:spPr>
          <a:xfrm>
            <a:off x="905688" y="1783546"/>
            <a:ext cx="2839675" cy="18031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ANOVA F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检验作为评分函数。计算每个数值特征与二元目标变量之间的统计相关性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筛选出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相关性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最强的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 15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个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特征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用于后续建模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85A0D7-2C06-9A50-71AE-406574FFBE42}"/>
              </a:ext>
            </a:extLst>
          </p:cNvPr>
          <p:cNvSpPr txBox="1"/>
          <p:nvPr/>
        </p:nvSpPr>
        <p:spPr>
          <a:xfrm>
            <a:off x="4273530" y="2097140"/>
            <a:ext cx="1543642" cy="784830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Feature Selection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932808-1B6D-91E7-3C68-03BB320DF058}"/>
              </a:ext>
            </a:extLst>
          </p:cNvPr>
          <p:cNvSpPr txBox="1"/>
          <p:nvPr/>
        </p:nvSpPr>
        <p:spPr>
          <a:xfrm>
            <a:off x="6289881" y="2107249"/>
            <a:ext cx="1593531" cy="784830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Random</a:t>
            </a:r>
          </a:p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Forest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CEE86C-447B-74F6-42A0-94F107300DD4}"/>
              </a:ext>
            </a:extLst>
          </p:cNvPr>
          <p:cNvSpPr txBox="1"/>
          <p:nvPr/>
        </p:nvSpPr>
        <p:spPr>
          <a:xfrm>
            <a:off x="4461400" y="4244529"/>
            <a:ext cx="1167901" cy="538609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GBM</a:t>
            </a: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5BBE27-8C8E-0B1C-A062-D62DD46A97F2}"/>
              </a:ext>
            </a:extLst>
          </p:cNvPr>
          <p:cNvSpPr txBox="1"/>
          <p:nvPr/>
        </p:nvSpPr>
        <p:spPr>
          <a:xfrm>
            <a:off x="6281782" y="4275307"/>
            <a:ext cx="1556075" cy="477054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 algn="ctr"/>
            <a:r>
              <a:rPr lang="en-US" altLang="zh-CN" sz="28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XGBoost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1F8A03-23BC-1689-4D9C-12F038EC8B89}"/>
              </a:ext>
            </a:extLst>
          </p:cNvPr>
          <p:cNvSpPr txBox="1"/>
          <p:nvPr/>
        </p:nvSpPr>
        <p:spPr>
          <a:xfrm>
            <a:off x="8267733" y="1783546"/>
            <a:ext cx="2839675" cy="18031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构建了多棵决策树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每棵树都在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的随机子集和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特征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的随机子集上训练。最终结果由所有树投票决定，降低了单一决策树的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过拟合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问题。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BFAD19-1A21-DFFA-1A68-01996156D2E4}"/>
              </a:ext>
            </a:extLst>
          </p:cNvPr>
          <p:cNvSpPr txBox="1"/>
          <p:nvPr/>
        </p:nvSpPr>
        <p:spPr>
          <a:xfrm>
            <a:off x="905688" y="4066211"/>
            <a:ext cx="2759861" cy="1433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串行构建决策树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。与随机森林不同，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Boosting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中的每一棵新树都是为了纠正前一棵树所犯的错误。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68F9B9-2C18-D821-2AE2-55024436F885}"/>
              </a:ext>
            </a:extLst>
          </p:cNvPr>
          <p:cNvSpPr txBox="1"/>
          <p:nvPr/>
        </p:nvSpPr>
        <p:spPr>
          <a:xfrm>
            <a:off x="8267733" y="4066211"/>
            <a:ext cx="2839675" cy="1433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XGBoost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GBM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的一种高效、正则化（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防止过拟合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）的实现，通常具有更高的准确率和更快的训练速度。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矩形 39">
            <a:extLst>
              <a:ext uri="{FF2B5EF4-FFF2-40B4-BE49-F238E27FC236}">
                <a16:creationId xmlns:a16="http://schemas.microsoft.com/office/drawing/2014/main" id="{22852AA5-4B2A-E596-D945-808CC8E16903}"/>
              </a:ext>
            </a:extLst>
          </p:cNvPr>
          <p:cNvSpPr/>
          <p:nvPr/>
        </p:nvSpPr>
        <p:spPr>
          <a:xfrm>
            <a:off x="1459135" y="211868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pitchFamily="34" charset="0"/>
              </a:rPr>
              <a:t>特征筛选与高级集成模型</a:t>
            </a:r>
            <a:endParaRPr lang="zh-CN" altLang="zh-CN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6F292DA-BFB9-57B2-F059-07DE7E88B61E}"/>
              </a:ext>
            </a:extLst>
          </p:cNvPr>
          <p:cNvSpPr txBox="1"/>
          <p:nvPr/>
        </p:nvSpPr>
        <p:spPr>
          <a:xfrm>
            <a:off x="1459135" y="758575"/>
            <a:ext cx="4101548" cy="402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3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我们使用了三种高级集成模型进行学习</a:t>
            </a:r>
          </a:p>
        </p:txBody>
      </p:sp>
    </p:spTree>
    <p:extLst>
      <p:ext uri="{BB962C8B-B14F-4D97-AF65-F5344CB8AC3E}">
        <p14:creationId xmlns:p14="http://schemas.microsoft.com/office/powerpoint/2010/main" val="4837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972A-B027-F320-AA83-D73E1BC1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44">
            <a:extLst>
              <a:ext uri="{FF2B5EF4-FFF2-40B4-BE49-F238E27FC236}">
                <a16:creationId xmlns:a16="http://schemas.microsoft.com/office/drawing/2014/main" id="{D79ED6EE-7345-A320-AC9A-D46350E84F1C}"/>
              </a:ext>
            </a:extLst>
          </p:cNvPr>
          <p:cNvSpPr>
            <a:spLocks/>
          </p:cNvSpPr>
          <p:nvPr/>
        </p:nvSpPr>
        <p:spPr bwMode="auto">
          <a:xfrm>
            <a:off x="2272819" y="3821806"/>
            <a:ext cx="2719821" cy="2444499"/>
          </a:xfrm>
          <a:custGeom>
            <a:avLst/>
            <a:gdLst>
              <a:gd name="T0" fmla="*/ 1148 w 1148"/>
              <a:gd name="T1" fmla="*/ 515 h 1030"/>
              <a:gd name="T2" fmla="*/ 1019 w 1148"/>
              <a:gd name="T3" fmla="*/ 412 h 1030"/>
              <a:gd name="T4" fmla="*/ 515 w 1148"/>
              <a:gd name="T5" fmla="*/ 0 h 1030"/>
              <a:gd name="T6" fmla="*/ 0 w 1148"/>
              <a:gd name="T7" fmla="*/ 515 h 1030"/>
              <a:gd name="T8" fmla="*/ 515 w 1148"/>
              <a:gd name="T9" fmla="*/ 1030 h 1030"/>
              <a:gd name="T10" fmla="*/ 1019 w 1148"/>
              <a:gd name="T11" fmla="*/ 618 h 1030"/>
              <a:gd name="T12" fmla="*/ 1148 w 1148"/>
              <a:gd name="T13" fmla="*/ 515 h 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8" h="1030">
                <a:moveTo>
                  <a:pt x="1148" y="515"/>
                </a:moveTo>
                <a:cubicBezTo>
                  <a:pt x="1019" y="412"/>
                  <a:pt x="1019" y="412"/>
                  <a:pt x="1019" y="412"/>
                </a:cubicBezTo>
                <a:cubicBezTo>
                  <a:pt x="971" y="177"/>
                  <a:pt x="763" y="0"/>
                  <a:pt x="515" y="0"/>
                </a:cubicBezTo>
                <a:cubicBezTo>
                  <a:pt x="230" y="0"/>
                  <a:pt x="0" y="231"/>
                  <a:pt x="0" y="515"/>
                </a:cubicBezTo>
                <a:cubicBezTo>
                  <a:pt x="0" y="799"/>
                  <a:pt x="230" y="1030"/>
                  <a:pt x="515" y="1030"/>
                </a:cubicBezTo>
                <a:cubicBezTo>
                  <a:pt x="763" y="1030"/>
                  <a:pt x="971" y="853"/>
                  <a:pt x="1019" y="618"/>
                </a:cubicBezTo>
                <a:lnTo>
                  <a:pt x="1148" y="515"/>
                </a:lnTo>
                <a:close/>
              </a:path>
            </a:pathLst>
          </a:custGeom>
          <a:solidFill>
            <a:srgbClr val="5EC6D3"/>
          </a:solidFill>
          <a:ln w="19050">
            <a:noFill/>
          </a:ln>
          <a:effectLst>
            <a:outerShdw blurRad="152400" dist="381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75308" tIns="731520" rIns="475308" bIns="582340" numCol="1" spcCol="1270" anchor="ctr" anchorCtr="0">
            <a:noAutofit/>
          </a:bodyPr>
          <a:lstStyle/>
          <a:p>
            <a:pPr algn="ctr" defTabSz="1777912">
              <a:lnSpc>
                <a:spcPct val="90000"/>
              </a:lnSpc>
              <a:spcAft>
                <a:spcPct val="35000"/>
              </a:spcAft>
            </a:pPr>
            <a:endParaRPr lang="zh-CN" altLang="en-US" sz="4000"/>
          </a:p>
        </p:txBody>
      </p:sp>
      <p:sp>
        <p:nvSpPr>
          <p:cNvPr id="41" name="Freeform 46">
            <a:extLst>
              <a:ext uri="{FF2B5EF4-FFF2-40B4-BE49-F238E27FC236}">
                <a16:creationId xmlns:a16="http://schemas.microsoft.com/office/drawing/2014/main" id="{DDD3B0BF-94AA-A62A-4B8E-244385D8BB7F}"/>
              </a:ext>
            </a:extLst>
          </p:cNvPr>
          <p:cNvSpPr>
            <a:spLocks/>
          </p:cNvSpPr>
          <p:nvPr/>
        </p:nvSpPr>
        <p:spPr bwMode="auto">
          <a:xfrm>
            <a:off x="2331315" y="1251047"/>
            <a:ext cx="2722124" cy="2444499"/>
          </a:xfrm>
          <a:custGeom>
            <a:avLst/>
            <a:gdLst>
              <a:gd name="T0" fmla="*/ 1149 w 1149"/>
              <a:gd name="T1" fmla="*/ 515 h 1030"/>
              <a:gd name="T2" fmla="*/ 1020 w 1149"/>
              <a:gd name="T3" fmla="*/ 412 h 1030"/>
              <a:gd name="T4" fmla="*/ 515 w 1149"/>
              <a:gd name="T5" fmla="*/ 0 h 1030"/>
              <a:gd name="T6" fmla="*/ 0 w 1149"/>
              <a:gd name="T7" fmla="*/ 515 h 1030"/>
              <a:gd name="T8" fmla="*/ 515 w 1149"/>
              <a:gd name="T9" fmla="*/ 1030 h 1030"/>
              <a:gd name="T10" fmla="*/ 1020 w 1149"/>
              <a:gd name="T11" fmla="*/ 618 h 1030"/>
              <a:gd name="T12" fmla="*/ 1149 w 1149"/>
              <a:gd name="T13" fmla="*/ 515 h 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9" h="1030">
                <a:moveTo>
                  <a:pt x="1149" y="515"/>
                </a:moveTo>
                <a:cubicBezTo>
                  <a:pt x="1020" y="412"/>
                  <a:pt x="1020" y="412"/>
                  <a:pt x="1020" y="412"/>
                </a:cubicBezTo>
                <a:cubicBezTo>
                  <a:pt x="972" y="177"/>
                  <a:pt x="764" y="0"/>
                  <a:pt x="515" y="0"/>
                </a:cubicBezTo>
                <a:cubicBezTo>
                  <a:pt x="231" y="0"/>
                  <a:pt x="0" y="231"/>
                  <a:pt x="0" y="515"/>
                </a:cubicBezTo>
                <a:cubicBezTo>
                  <a:pt x="0" y="799"/>
                  <a:pt x="231" y="1030"/>
                  <a:pt x="515" y="1030"/>
                </a:cubicBezTo>
                <a:cubicBezTo>
                  <a:pt x="764" y="1030"/>
                  <a:pt x="972" y="853"/>
                  <a:pt x="1020" y="618"/>
                </a:cubicBezTo>
                <a:lnTo>
                  <a:pt x="1149" y="515"/>
                </a:lnTo>
                <a:close/>
              </a:path>
            </a:pathLst>
          </a:custGeom>
          <a:solidFill>
            <a:srgbClr val="546E7A"/>
          </a:solidFill>
          <a:ln w="19050">
            <a:noFill/>
          </a:ln>
          <a:effectLst>
            <a:outerShdw blurRad="152400" dist="381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75308" tIns="731520" rIns="475308" bIns="582340" numCol="1" spcCol="1270" anchor="ctr" anchorCtr="0">
            <a:noAutofit/>
          </a:bodyPr>
          <a:lstStyle/>
          <a:p>
            <a:pPr algn="ctr" defTabSz="1777912">
              <a:lnSpc>
                <a:spcPct val="90000"/>
              </a:lnSpc>
              <a:spcAft>
                <a:spcPct val="35000"/>
              </a:spcAft>
            </a:pPr>
            <a:endParaRPr lang="zh-CN" altLang="en-US" sz="4000"/>
          </a:p>
        </p:txBody>
      </p:sp>
      <p:sp>
        <p:nvSpPr>
          <p:cNvPr id="43" name="Freeform 48">
            <a:extLst>
              <a:ext uri="{FF2B5EF4-FFF2-40B4-BE49-F238E27FC236}">
                <a16:creationId xmlns:a16="http://schemas.microsoft.com/office/drawing/2014/main" id="{104F31A6-DD55-1290-2B3F-35931E8FA078}"/>
              </a:ext>
            </a:extLst>
          </p:cNvPr>
          <p:cNvSpPr>
            <a:spLocks noEditPoints="1"/>
          </p:cNvSpPr>
          <p:nvPr/>
        </p:nvSpPr>
        <p:spPr bwMode="auto">
          <a:xfrm>
            <a:off x="3251932" y="4331565"/>
            <a:ext cx="630519" cy="630519"/>
          </a:xfrm>
          <a:custGeom>
            <a:avLst/>
            <a:gdLst>
              <a:gd name="T0" fmla="*/ 152 w 152"/>
              <a:gd name="T1" fmla="*/ 88 h 152"/>
              <a:gd name="T2" fmla="*/ 152 w 152"/>
              <a:gd name="T3" fmla="*/ 64 h 152"/>
              <a:gd name="T4" fmla="*/ 138 w 152"/>
              <a:gd name="T5" fmla="*/ 64 h 152"/>
              <a:gd name="T6" fmla="*/ 128 w 152"/>
              <a:gd name="T7" fmla="*/ 40 h 152"/>
              <a:gd name="T8" fmla="*/ 138 w 152"/>
              <a:gd name="T9" fmla="*/ 31 h 152"/>
              <a:gd name="T10" fmla="*/ 121 w 152"/>
              <a:gd name="T11" fmla="*/ 14 h 152"/>
              <a:gd name="T12" fmla="*/ 111 w 152"/>
              <a:gd name="T13" fmla="*/ 24 h 152"/>
              <a:gd name="T14" fmla="*/ 88 w 152"/>
              <a:gd name="T15" fmla="*/ 14 h 152"/>
              <a:gd name="T16" fmla="*/ 88 w 152"/>
              <a:gd name="T17" fmla="*/ 0 h 152"/>
              <a:gd name="T18" fmla="*/ 64 w 152"/>
              <a:gd name="T19" fmla="*/ 0 h 152"/>
              <a:gd name="T20" fmla="*/ 64 w 152"/>
              <a:gd name="T21" fmla="*/ 14 h 152"/>
              <a:gd name="T22" fmla="*/ 41 w 152"/>
              <a:gd name="T23" fmla="*/ 24 h 152"/>
              <a:gd name="T24" fmla="*/ 31 w 152"/>
              <a:gd name="T25" fmla="*/ 14 h 152"/>
              <a:gd name="T26" fmla="*/ 14 w 152"/>
              <a:gd name="T27" fmla="*/ 31 h 152"/>
              <a:gd name="T28" fmla="*/ 24 w 152"/>
              <a:gd name="T29" fmla="*/ 40 h 152"/>
              <a:gd name="T30" fmla="*/ 14 w 152"/>
              <a:gd name="T31" fmla="*/ 64 h 152"/>
              <a:gd name="T32" fmla="*/ 0 w 152"/>
              <a:gd name="T33" fmla="*/ 64 h 152"/>
              <a:gd name="T34" fmla="*/ 0 w 152"/>
              <a:gd name="T35" fmla="*/ 88 h 152"/>
              <a:gd name="T36" fmla="*/ 14 w 152"/>
              <a:gd name="T37" fmla="*/ 88 h 152"/>
              <a:gd name="T38" fmla="*/ 24 w 152"/>
              <a:gd name="T39" fmla="*/ 111 h 152"/>
              <a:gd name="T40" fmla="*/ 14 w 152"/>
              <a:gd name="T41" fmla="*/ 121 h 152"/>
              <a:gd name="T42" fmla="*/ 31 w 152"/>
              <a:gd name="T43" fmla="*/ 138 h 152"/>
              <a:gd name="T44" fmla="*/ 41 w 152"/>
              <a:gd name="T45" fmla="*/ 128 h 152"/>
              <a:gd name="T46" fmla="*/ 64 w 152"/>
              <a:gd name="T47" fmla="*/ 138 h 152"/>
              <a:gd name="T48" fmla="*/ 64 w 152"/>
              <a:gd name="T49" fmla="*/ 152 h 152"/>
              <a:gd name="T50" fmla="*/ 88 w 152"/>
              <a:gd name="T51" fmla="*/ 152 h 152"/>
              <a:gd name="T52" fmla="*/ 88 w 152"/>
              <a:gd name="T53" fmla="*/ 138 h 152"/>
              <a:gd name="T54" fmla="*/ 111 w 152"/>
              <a:gd name="T55" fmla="*/ 128 h 152"/>
              <a:gd name="T56" fmla="*/ 121 w 152"/>
              <a:gd name="T57" fmla="*/ 138 h 152"/>
              <a:gd name="T58" fmla="*/ 138 w 152"/>
              <a:gd name="T59" fmla="*/ 121 h 152"/>
              <a:gd name="T60" fmla="*/ 128 w 152"/>
              <a:gd name="T61" fmla="*/ 111 h 152"/>
              <a:gd name="T62" fmla="*/ 138 w 152"/>
              <a:gd name="T63" fmla="*/ 88 h 152"/>
              <a:gd name="T64" fmla="*/ 152 w 152"/>
              <a:gd name="T65" fmla="*/ 88 h 152"/>
              <a:gd name="T66" fmla="*/ 76 w 152"/>
              <a:gd name="T67" fmla="*/ 115 h 152"/>
              <a:gd name="T68" fmla="*/ 37 w 152"/>
              <a:gd name="T69" fmla="*/ 76 h 152"/>
              <a:gd name="T70" fmla="*/ 76 w 152"/>
              <a:gd name="T71" fmla="*/ 37 h 152"/>
              <a:gd name="T72" fmla="*/ 115 w 152"/>
              <a:gd name="T73" fmla="*/ 76 h 152"/>
              <a:gd name="T74" fmla="*/ 76 w 152"/>
              <a:gd name="T75" fmla="*/ 115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52" h="152">
                <a:moveTo>
                  <a:pt x="152" y="88"/>
                </a:moveTo>
                <a:cubicBezTo>
                  <a:pt x="152" y="64"/>
                  <a:pt x="152" y="64"/>
                  <a:pt x="152" y="64"/>
                </a:cubicBezTo>
                <a:cubicBezTo>
                  <a:pt x="138" y="64"/>
                  <a:pt x="138" y="64"/>
                  <a:pt x="138" y="64"/>
                </a:cubicBezTo>
                <a:cubicBezTo>
                  <a:pt x="136" y="55"/>
                  <a:pt x="133" y="47"/>
                  <a:pt x="128" y="40"/>
                </a:cubicBezTo>
                <a:cubicBezTo>
                  <a:pt x="138" y="31"/>
                  <a:pt x="138" y="31"/>
                  <a:pt x="138" y="31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11" y="24"/>
                  <a:pt x="111" y="24"/>
                  <a:pt x="111" y="24"/>
                </a:cubicBezTo>
                <a:cubicBezTo>
                  <a:pt x="104" y="19"/>
                  <a:pt x="96" y="16"/>
                  <a:pt x="88" y="14"/>
                </a:cubicBezTo>
                <a:cubicBezTo>
                  <a:pt x="88" y="0"/>
                  <a:pt x="88" y="0"/>
                  <a:pt x="88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14"/>
                  <a:pt x="64" y="14"/>
                  <a:pt x="64" y="14"/>
                </a:cubicBezTo>
                <a:cubicBezTo>
                  <a:pt x="56" y="16"/>
                  <a:pt x="48" y="19"/>
                  <a:pt x="41" y="24"/>
                </a:cubicBezTo>
                <a:cubicBezTo>
                  <a:pt x="31" y="14"/>
                  <a:pt x="31" y="14"/>
                  <a:pt x="31" y="14"/>
                </a:cubicBezTo>
                <a:cubicBezTo>
                  <a:pt x="14" y="31"/>
                  <a:pt x="14" y="31"/>
                  <a:pt x="14" y="31"/>
                </a:cubicBezTo>
                <a:cubicBezTo>
                  <a:pt x="24" y="40"/>
                  <a:pt x="24" y="40"/>
                  <a:pt x="24" y="40"/>
                </a:cubicBezTo>
                <a:cubicBezTo>
                  <a:pt x="19" y="47"/>
                  <a:pt x="16" y="55"/>
                  <a:pt x="14" y="6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88"/>
                  <a:pt x="0" y="88"/>
                  <a:pt x="0" y="88"/>
                </a:cubicBezTo>
                <a:cubicBezTo>
                  <a:pt x="14" y="88"/>
                  <a:pt x="14" y="88"/>
                  <a:pt x="14" y="88"/>
                </a:cubicBezTo>
                <a:cubicBezTo>
                  <a:pt x="16" y="96"/>
                  <a:pt x="19" y="104"/>
                  <a:pt x="24" y="111"/>
                </a:cubicBezTo>
                <a:cubicBezTo>
                  <a:pt x="14" y="121"/>
                  <a:pt x="14" y="121"/>
                  <a:pt x="14" y="121"/>
                </a:cubicBezTo>
                <a:cubicBezTo>
                  <a:pt x="31" y="138"/>
                  <a:pt x="31" y="138"/>
                  <a:pt x="31" y="138"/>
                </a:cubicBezTo>
                <a:cubicBezTo>
                  <a:pt x="41" y="128"/>
                  <a:pt x="41" y="128"/>
                  <a:pt x="41" y="128"/>
                </a:cubicBezTo>
                <a:cubicBezTo>
                  <a:pt x="48" y="133"/>
                  <a:pt x="56" y="136"/>
                  <a:pt x="64" y="138"/>
                </a:cubicBezTo>
                <a:cubicBezTo>
                  <a:pt x="64" y="152"/>
                  <a:pt x="64" y="152"/>
                  <a:pt x="64" y="152"/>
                </a:cubicBezTo>
                <a:cubicBezTo>
                  <a:pt x="88" y="152"/>
                  <a:pt x="88" y="152"/>
                  <a:pt x="88" y="152"/>
                </a:cubicBezTo>
                <a:cubicBezTo>
                  <a:pt x="88" y="138"/>
                  <a:pt x="88" y="138"/>
                  <a:pt x="88" y="138"/>
                </a:cubicBezTo>
                <a:cubicBezTo>
                  <a:pt x="96" y="136"/>
                  <a:pt x="104" y="133"/>
                  <a:pt x="111" y="128"/>
                </a:cubicBezTo>
                <a:cubicBezTo>
                  <a:pt x="121" y="138"/>
                  <a:pt x="121" y="138"/>
                  <a:pt x="121" y="138"/>
                </a:cubicBezTo>
                <a:cubicBezTo>
                  <a:pt x="138" y="121"/>
                  <a:pt x="138" y="121"/>
                  <a:pt x="138" y="121"/>
                </a:cubicBezTo>
                <a:cubicBezTo>
                  <a:pt x="128" y="111"/>
                  <a:pt x="128" y="111"/>
                  <a:pt x="128" y="111"/>
                </a:cubicBezTo>
                <a:cubicBezTo>
                  <a:pt x="133" y="104"/>
                  <a:pt x="136" y="96"/>
                  <a:pt x="138" y="88"/>
                </a:cubicBezTo>
                <a:lnTo>
                  <a:pt x="152" y="88"/>
                </a:lnTo>
                <a:close/>
                <a:moveTo>
                  <a:pt x="76" y="115"/>
                </a:moveTo>
                <a:cubicBezTo>
                  <a:pt x="54" y="115"/>
                  <a:pt x="37" y="98"/>
                  <a:pt x="37" y="76"/>
                </a:cubicBezTo>
                <a:cubicBezTo>
                  <a:pt x="37" y="54"/>
                  <a:pt x="54" y="37"/>
                  <a:pt x="76" y="37"/>
                </a:cubicBezTo>
                <a:cubicBezTo>
                  <a:pt x="98" y="37"/>
                  <a:pt x="115" y="54"/>
                  <a:pt x="115" y="76"/>
                </a:cubicBezTo>
                <a:cubicBezTo>
                  <a:pt x="115" y="98"/>
                  <a:pt x="98" y="115"/>
                  <a:pt x="76" y="11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/>
          </a:p>
        </p:txBody>
      </p:sp>
      <p:sp>
        <p:nvSpPr>
          <p:cNvPr id="46" name="Freeform 51">
            <a:extLst>
              <a:ext uri="{FF2B5EF4-FFF2-40B4-BE49-F238E27FC236}">
                <a16:creationId xmlns:a16="http://schemas.microsoft.com/office/drawing/2014/main" id="{B8BDF783-ADBF-70ED-6980-96A87B467B73}"/>
              </a:ext>
            </a:extLst>
          </p:cNvPr>
          <p:cNvSpPr>
            <a:spLocks/>
          </p:cNvSpPr>
          <p:nvPr/>
        </p:nvSpPr>
        <p:spPr bwMode="auto">
          <a:xfrm>
            <a:off x="2983795" y="1799839"/>
            <a:ext cx="1176431" cy="560012"/>
          </a:xfrm>
          <a:custGeom>
            <a:avLst/>
            <a:gdLst>
              <a:gd name="T0" fmla="*/ 584 w 584"/>
              <a:gd name="T1" fmla="*/ 0 h 278"/>
              <a:gd name="T2" fmla="*/ 449 w 584"/>
              <a:gd name="T3" fmla="*/ 31 h 278"/>
              <a:gd name="T4" fmla="*/ 469 w 584"/>
              <a:gd name="T5" fmla="*/ 62 h 278"/>
              <a:gd name="T6" fmla="*/ 278 w 584"/>
              <a:gd name="T7" fmla="*/ 200 h 278"/>
              <a:gd name="T8" fmla="*/ 214 w 584"/>
              <a:gd name="T9" fmla="*/ 116 h 278"/>
              <a:gd name="T10" fmla="*/ 204 w 584"/>
              <a:gd name="T11" fmla="*/ 101 h 278"/>
              <a:gd name="T12" fmla="*/ 190 w 584"/>
              <a:gd name="T13" fmla="*/ 112 h 278"/>
              <a:gd name="T14" fmla="*/ 0 w 584"/>
              <a:gd name="T15" fmla="*/ 250 h 278"/>
              <a:gd name="T16" fmla="*/ 21 w 584"/>
              <a:gd name="T17" fmla="*/ 278 h 278"/>
              <a:gd name="T18" fmla="*/ 196 w 584"/>
              <a:gd name="T19" fmla="*/ 151 h 278"/>
              <a:gd name="T20" fmla="*/ 260 w 584"/>
              <a:gd name="T21" fmla="*/ 237 h 278"/>
              <a:gd name="T22" fmla="*/ 270 w 584"/>
              <a:gd name="T23" fmla="*/ 252 h 278"/>
              <a:gd name="T24" fmla="*/ 284 w 584"/>
              <a:gd name="T25" fmla="*/ 241 h 278"/>
              <a:gd name="T26" fmla="*/ 490 w 584"/>
              <a:gd name="T27" fmla="*/ 91 h 278"/>
              <a:gd name="T28" fmla="*/ 490 w 584"/>
              <a:gd name="T29" fmla="*/ 91 h 278"/>
              <a:gd name="T30" fmla="*/ 512 w 584"/>
              <a:gd name="T31" fmla="*/ 120 h 278"/>
              <a:gd name="T32" fmla="*/ 584 w 584"/>
              <a:gd name="T33" fmla="*/ 0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84" h="278">
                <a:moveTo>
                  <a:pt x="584" y="0"/>
                </a:moveTo>
                <a:lnTo>
                  <a:pt x="449" y="31"/>
                </a:lnTo>
                <a:lnTo>
                  <a:pt x="469" y="62"/>
                </a:lnTo>
                <a:lnTo>
                  <a:pt x="278" y="200"/>
                </a:lnTo>
                <a:lnTo>
                  <a:pt x="214" y="116"/>
                </a:lnTo>
                <a:lnTo>
                  <a:pt x="204" y="101"/>
                </a:lnTo>
                <a:lnTo>
                  <a:pt x="190" y="112"/>
                </a:lnTo>
                <a:lnTo>
                  <a:pt x="0" y="250"/>
                </a:lnTo>
                <a:lnTo>
                  <a:pt x="21" y="278"/>
                </a:lnTo>
                <a:lnTo>
                  <a:pt x="196" y="151"/>
                </a:lnTo>
                <a:lnTo>
                  <a:pt x="260" y="237"/>
                </a:lnTo>
                <a:lnTo>
                  <a:pt x="270" y="252"/>
                </a:lnTo>
                <a:lnTo>
                  <a:pt x="284" y="241"/>
                </a:lnTo>
                <a:lnTo>
                  <a:pt x="490" y="91"/>
                </a:lnTo>
                <a:lnTo>
                  <a:pt x="490" y="91"/>
                </a:lnTo>
                <a:lnTo>
                  <a:pt x="512" y="120"/>
                </a:lnTo>
                <a:lnTo>
                  <a:pt x="58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E1D23D0-4612-7F07-938B-5AE134AD4DDE}"/>
              </a:ext>
            </a:extLst>
          </p:cNvPr>
          <p:cNvSpPr txBox="1"/>
          <p:nvPr/>
        </p:nvSpPr>
        <p:spPr>
          <a:xfrm>
            <a:off x="2463859" y="2369510"/>
            <a:ext cx="2266006" cy="961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605E5E"/>
                </a:solidFill>
                <a:latin typeface="Impact" panose="020B0806030902050204" pitchFamily="34" charset="0"/>
                <a:cs typeface="Aharoni" panose="02010803020104030203" pitchFamily="2" charset="-79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Hyperparameter </a:t>
            </a:r>
          </a:p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Tuning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2A4F8FC-7E0F-62C5-8114-63E8A2466EFB}"/>
              </a:ext>
            </a:extLst>
          </p:cNvPr>
          <p:cNvSpPr txBox="1"/>
          <p:nvPr/>
        </p:nvSpPr>
        <p:spPr>
          <a:xfrm>
            <a:off x="2739081" y="4962084"/>
            <a:ext cx="16562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605E5E"/>
                </a:solidFill>
                <a:latin typeface="Impact" panose="020B0806030902050204" pitchFamily="34" charset="0"/>
                <a:cs typeface="Aharoni" panose="02010803020104030203" pitchFamily="2" charset="-79"/>
              </a:defRPr>
            </a:lvl1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Advanced </a:t>
            </a: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 </a:t>
            </a: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Engineering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39">
            <a:extLst>
              <a:ext uri="{FF2B5EF4-FFF2-40B4-BE49-F238E27FC236}">
                <a16:creationId xmlns:a16="http://schemas.microsoft.com/office/drawing/2014/main" id="{BC3530CB-76B1-3C83-2A35-721EADCF9B65}"/>
              </a:ext>
            </a:extLst>
          </p:cNvPr>
          <p:cNvSpPr txBox="1"/>
          <p:nvPr/>
        </p:nvSpPr>
        <p:spPr>
          <a:xfrm>
            <a:off x="5031667" y="1657199"/>
            <a:ext cx="4480276" cy="188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5432">
              <a:lnSpc>
                <a:spcPct val="150000"/>
              </a:lnSpc>
              <a:spcBef>
                <a:spcPts val="533"/>
              </a:spcBef>
              <a:defRPr/>
            </a:pP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我们使用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网格搜索交叉验证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，表现最佳的基线模型进行调优，通过交叉验证自动测试预定义的超参数网格，以找到模型的最佳泛化组合。</a:t>
            </a:r>
          </a:p>
        </p:txBody>
      </p:sp>
      <p:sp>
        <p:nvSpPr>
          <p:cNvPr id="4" name="矩形 39">
            <a:extLst>
              <a:ext uri="{FF2B5EF4-FFF2-40B4-BE49-F238E27FC236}">
                <a16:creationId xmlns:a16="http://schemas.microsoft.com/office/drawing/2014/main" id="{E86923B2-FFE5-3FD2-AD17-9859CDFDDC0B}"/>
              </a:ext>
            </a:extLst>
          </p:cNvPr>
          <p:cNvSpPr/>
          <p:nvPr/>
        </p:nvSpPr>
        <p:spPr>
          <a:xfrm>
            <a:off x="1459135" y="211868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pitchFamily="34" charset="0"/>
              </a:rPr>
              <a:t>模型调优</a:t>
            </a:r>
            <a:endParaRPr lang="zh-CN" altLang="zh-CN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C5904E-D4EA-BD67-DBCC-B72E42B39B25}"/>
              </a:ext>
            </a:extLst>
          </p:cNvPr>
          <p:cNvSpPr txBox="1"/>
          <p:nvPr/>
        </p:nvSpPr>
        <p:spPr>
          <a:xfrm>
            <a:off x="1459134" y="758575"/>
            <a:ext cx="5464180" cy="402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3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我们使用了两种拓展方法提升模型的鲁棒性与准确性</a:t>
            </a:r>
          </a:p>
        </p:txBody>
      </p:sp>
      <p:sp>
        <p:nvSpPr>
          <p:cNvPr id="6" name="TextBox 39">
            <a:extLst>
              <a:ext uri="{FF2B5EF4-FFF2-40B4-BE49-F238E27FC236}">
                <a16:creationId xmlns:a16="http://schemas.microsoft.com/office/drawing/2014/main" id="{B3493643-618B-6DF0-B2BB-6F1252D8B82D}"/>
              </a:ext>
            </a:extLst>
          </p:cNvPr>
          <p:cNvSpPr txBox="1"/>
          <p:nvPr/>
        </p:nvSpPr>
        <p:spPr>
          <a:xfrm>
            <a:off x="5053439" y="3821806"/>
            <a:ext cx="4436733" cy="1866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5432">
              <a:lnSpc>
                <a:spcPct val="150000"/>
              </a:lnSpc>
              <a:spcBef>
                <a:spcPts val="533"/>
              </a:spcBef>
              <a:defRPr/>
            </a:pP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事故严重性与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地理位置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高度相关，所以我们运用 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HDBSCAN 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识别事故高发热点区域。将“是否在高发区”作为一个新的布尔特征加入模型。</a:t>
            </a:r>
          </a:p>
        </p:txBody>
      </p:sp>
    </p:spTree>
    <p:extLst>
      <p:ext uri="{BB962C8B-B14F-4D97-AF65-F5344CB8AC3E}">
        <p14:creationId xmlns:p14="http://schemas.microsoft.com/office/powerpoint/2010/main" val="282519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roject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C2B43"/>
      </a:accent1>
      <a:accent2>
        <a:srgbClr val="DF361F"/>
      </a:accent2>
      <a:accent3>
        <a:srgbClr val="FA9C00"/>
      </a:accent3>
      <a:accent4>
        <a:srgbClr val="90BC33"/>
      </a:accent4>
      <a:accent5>
        <a:srgbClr val="00B09B"/>
      </a:accent5>
      <a:accent6>
        <a:srgbClr val="0175B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427</Words>
  <Application>Microsoft Office PowerPoint</Application>
  <PresentationFormat>宽屏</PresentationFormat>
  <Paragraphs>37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微软雅黑</vt:lpstr>
      <vt:lpstr>Arial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ZW H</cp:lastModifiedBy>
  <cp:revision>208</cp:revision>
  <dcterms:created xsi:type="dcterms:W3CDTF">2015-04-13T00:30:35Z</dcterms:created>
  <dcterms:modified xsi:type="dcterms:W3CDTF">2025-11-18T04:26:38Z</dcterms:modified>
</cp:coreProperties>
</file>